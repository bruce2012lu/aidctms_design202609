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2984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FB6E6"/>
                </a:solidFill>
                <a:latin typeface="微软雅黑"/>
                <a:ea typeface="微软雅黑"/>
                <a:cs typeface="微软雅黑"/>
              </a:rPr>
              <a:t>INTEGRATED SYSTEM STUDY  ·  GB300 NVL72 LIQUID COOLING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55648"/>
            <a:ext cx="10241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NVIDIA GB300 NVL72
液冷系统综合汇报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127248"/>
            <a:ext cx="1463040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3832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需求 · 架构 · 设备 · 电控 · 成本 · 对标　全链贯通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443984"/>
            <a:ext cx="1046988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E8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综合六份源报告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53412" y="4443984"/>
            <a:ext cx="1540764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E8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155 kW 峰值包络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443984"/>
            <a:ext cx="240487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E8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2×200 kW L2L · N+1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1656" y="4443984"/>
            <a:ext cx="2157984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E8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Table 27 为水力唯一依据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95944" y="4443984"/>
            <a:ext cx="203454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E8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液 / 气 ≈ 90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303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v1.0　·　2026-09-05　·　文档编号 AIDC-LC-TOTAL-001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FC2E8"/>
                </a:solidFill>
                <a:latin typeface="微软雅黑"/>
                <a:ea typeface="微软雅黑"/>
                <a:cs typeface="微软雅黑"/>
              </a:rPr>
              <a:t>综合自：总体设计 v2.2 · CDU 系统设计 v1.19 · CDU 电控详细设计 v1.0 · 零部件成本分析 · 行业产品对标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一页速览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设计侧已经收敛，真正卡住项目的是 11 条没谈下来的接口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73352"/>
            <a:ext cx="2586151" cy="6858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155</a:t>
            </a:r>
            <a:r>
              <a:rPr sz="16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 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项目是什么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单柜液冷，按 Lenovo EDP 峰值包络设计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823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823" y="1673352"/>
            <a:ext cx="2586151" cy="6858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7127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2×200</a:t>
            </a:r>
            <a:r>
              <a:rPr sz="16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  kW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7127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配置是什么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L2L 液液型 CDU，1 用 1 备整机 N+1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4719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4719" y="1673352"/>
            <a:ext cx="2586151" cy="68580"/>
          </a:xfrm>
          <a:prstGeom prst="rect">
            <a:avLst/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1023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4F83"/>
                </a:solidFill>
                <a:latin typeface="微软雅黑"/>
                <a:ea typeface="微软雅黑"/>
                <a:cs typeface="微软雅黑"/>
              </a:rPr>
              <a:t>6 / 7</a:t>
            </a:r>
            <a:r>
              <a:rPr sz="1600" b="1" i="0">
                <a:solidFill>
                  <a:srgbClr val="174F8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当前状态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六个维度已达高或较高，只有接口冻结停在低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615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8615" y="1673352"/>
            <a:ext cx="2586151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4919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11</a:t>
            </a:r>
            <a:r>
              <a:rPr sz="16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  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4919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最大风险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CDU 侧 ICD 待冻结；电控另有 4 条阻塞（ICD 口径）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904488"/>
            <a:ext cx="11057839" cy="909827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904488"/>
            <a:ext cx="59436" cy="909827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005072"/>
            <a:ext cx="10673791" cy="7452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液冷负荷 139.5 kW（155 × 90%），设备按 150 kW 选型，风侧另按 25 kW 选型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四个功率数字属于四个坐标系，任何材料里都不得相加。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960620"/>
            <a:ext cx="11057839" cy="909827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960620"/>
            <a:ext cx="59436" cy="909827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061204"/>
            <a:ext cx="10673791" cy="7452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头号技术风险：机柜回液 56–62 ℃，接液件现规格只有 60 ℃，处于临界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未解决前不得下达板换与泵的最终采购。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结论先行：建议把资源从「继续算得更细」转向「把 11 条 ICD 谈下来」。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汇报逻辑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八步走：从需求怎么来，一直讲到明天该做什么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901952"/>
            <a:ext cx="2613583" cy="1298448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2613583" cy="6858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0"/>
            <a:ext cx="2247823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1  需求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155 kW 包络 · 90/10 · Table 27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07943" y="2468880"/>
            <a:ext cx="146304" cy="164592"/>
          </a:xfrm>
          <a:prstGeom prst="rightArrow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1679" y="1901952"/>
            <a:ext cx="2613583" cy="1298448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1679" y="1901952"/>
            <a:ext cx="2613583" cy="68580"/>
          </a:xfrm>
          <a:prstGeom prst="rect">
            <a:avLst/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4559" y="2194560"/>
            <a:ext cx="2247823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74F83"/>
                </a:solidFill>
                <a:latin typeface="微软雅黑"/>
                <a:ea typeface="微软雅黑"/>
                <a:cs typeface="微软雅黑"/>
              </a:rPr>
              <a:t>2  架构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L0–L5 六层链路 · L2L 选型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22695" y="2468880"/>
            <a:ext cx="146304" cy="164592"/>
          </a:xfrm>
          <a:prstGeom prst="rightArrow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6431" y="1901952"/>
            <a:ext cx="2613583" cy="1298448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1901952"/>
            <a:ext cx="2613583" cy="6858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9311" y="2194560"/>
            <a:ext cx="2247823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3  设备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2×200 kW CDU · 三套 FAT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2468880"/>
            <a:ext cx="146304" cy="164592"/>
          </a:xfrm>
          <a:prstGeom prst="rightArrow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11183" y="1901952"/>
            <a:ext cx="2613583" cy="1298448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11183" y="1901952"/>
            <a:ext cx="2613583" cy="6858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4063" y="2194560"/>
            <a:ext cx="2247823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4  电控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安全链并列 · 漏液三级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584448"/>
            <a:ext cx="2613583" cy="1298448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584448"/>
            <a:ext cx="2613583" cy="6858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877056"/>
            <a:ext cx="2247823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5  成本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项目液冷 / Bernstein 设施分表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207943" y="4151376"/>
            <a:ext cx="146304" cy="164592"/>
          </a:xfrm>
          <a:prstGeom prst="rightArrow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81679" y="3584448"/>
            <a:ext cx="2613583" cy="1298448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1679" y="3584448"/>
            <a:ext cx="2613583" cy="6858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4559" y="3877056"/>
            <a:ext cx="2247823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6  对标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121↔450 kW 空档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022695" y="4151376"/>
            <a:ext cx="146304" cy="164592"/>
          </a:xfrm>
          <a:prstGeom prst="rightArrow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6431" y="3584448"/>
            <a:ext cx="2613583" cy="1298448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6431" y="3584448"/>
            <a:ext cx="2613583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9311" y="3877056"/>
            <a:ext cx="2247823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7  风险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12 条风险 · 冻结看板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837447" y="4151376"/>
            <a:ext cx="146304" cy="164592"/>
          </a:xfrm>
          <a:prstGeom prst="rightArrow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11183" y="3584448"/>
            <a:ext cx="2613583" cy="1298448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11183" y="3584448"/>
            <a:ext cx="2613583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94063" y="3877056"/>
            <a:ext cx="2247823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8  行动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P0 三项并行关闭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叙事主线：需求是被 OEM 文件定死的 → 架构与设备是对需求的回应 → 成本与对标回答「值不值、买不买得到」 → 最后落到 11 条待冻结接口上。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研究链条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六份报告不是六个专题，是同一条工程链上的六个切面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82496"/>
            <a:ext cx="11057839" cy="694944"/>
          </a:xfrm>
          <a:prstGeom prst="roundRect">
            <a:avLst>
              <a:gd name="adj" fmla="val 10000"/>
            </a:avLst>
          </a:prstGeom>
          <a:solidFill>
            <a:srgbClr val="EEF5FF"/>
          </a:solidFill>
          <a:ln w="12700">
            <a:solidFill>
              <a:srgbClr val="B9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92224"/>
            <a:ext cx="10600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外部权威输入（只能引用，不能改写）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NVIDIA RA · Lenovo LP2357 / DS0207（Table 27）· Schneider RD110 · Vertiv CoolChip · OCP / ASHRAE · GB 50174 / GB/T 48023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95263" y="2414016"/>
            <a:ext cx="201168" cy="182880"/>
          </a:xfrm>
          <a:prstGeom prst="downArrow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2633472"/>
            <a:ext cx="6153912" cy="786384"/>
          </a:xfrm>
          <a:prstGeom prst="roundRect">
            <a:avLst>
              <a:gd name="adj" fmla="val 8000"/>
            </a:avLst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2724912"/>
            <a:ext cx="57607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冷却系统总体设计 v2.2　·　唯一的需求冻结点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155 kW 包络　·　90/10 液气　·　Table 27　·　2×200 kW　·　FAT-A/B　·　国标分层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239213" y="3474720"/>
            <a:ext cx="182880" cy="182880"/>
          </a:xfrm>
          <a:prstGeom prst="downArrow">
            <a:avLst/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694176"/>
            <a:ext cx="3527450" cy="1097280"/>
          </a:xfrm>
          <a:prstGeom prst="roundRect">
            <a:avLst>
              <a:gd name="adj" fmla="val 8000"/>
            </a:avLst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22191"/>
            <a:ext cx="3198266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CDU 系统设计 v1.19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DBE9FB"/>
                </a:solidFill>
                <a:latin typeface="微软雅黑"/>
                <a:ea typeface="微软雅黑"/>
                <a:cs typeface="微软雅黑"/>
              </a:rPr>
              <a:t>200 kW 平台 · 19 m³/h · 250 kPa · UA≥66.7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FF0E4"/>
                </a:solidFill>
                <a:latin typeface="微软雅黑"/>
                <a:ea typeface="微软雅黑"/>
                <a:cs typeface="微软雅黑"/>
              </a:rPr>
              <a:t>回答：设备是什么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004407" y="3474720"/>
            <a:ext cx="182880" cy="182880"/>
          </a:xfrm>
          <a:prstGeom prst="downArrow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2122" y="3694176"/>
            <a:ext cx="3527450" cy="1097280"/>
          </a:xfrm>
          <a:prstGeom prst="roundRect">
            <a:avLst>
              <a:gd name="adj" fmla="val 8000"/>
            </a:avLst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6714" y="3822191"/>
            <a:ext cx="3198266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CDU 电控详细设计 v1.0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DBE9FB"/>
                </a:solidFill>
                <a:latin typeface="微软雅黑"/>
                <a:ea typeface="微软雅黑"/>
                <a:cs typeface="微软雅黑"/>
              </a:rPr>
              <a:t>五层架构 · 独立硬接线安全链 · 漏液三级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FF0E4"/>
                </a:solidFill>
                <a:latin typeface="微软雅黑"/>
                <a:ea typeface="微软雅黑"/>
                <a:cs typeface="微软雅黑"/>
              </a:rPr>
              <a:t>回答：它怎么不出事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769602" y="3474720"/>
            <a:ext cx="182880" cy="182880"/>
          </a:xfrm>
          <a:prstGeom prst="downArrow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7316" y="3694176"/>
            <a:ext cx="3527450" cy="1097280"/>
          </a:xfrm>
          <a:prstGeom prst="roundRect">
            <a:avLst>
              <a:gd name="adj" fmla="val 8000"/>
            </a:avLst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1908" y="3822191"/>
            <a:ext cx="3198266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零部件成本分析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DBE9FB"/>
                </a:solidFill>
                <a:latin typeface="微软雅黑"/>
                <a:ea typeface="微软雅黑"/>
                <a:cs typeface="微软雅黑"/>
              </a:rPr>
              <a:t>柜内 BOM 5.1 万 / 柜外设施热管理 21.1 万美元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FF0E4"/>
                </a:solidFill>
                <a:latin typeface="微软雅黑"/>
                <a:ea typeface="微软雅黑"/>
                <a:cs typeface="微软雅黑"/>
              </a:rPr>
              <a:t>回答：值多少钱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95263" y="4846320"/>
            <a:ext cx="201168" cy="182880"/>
          </a:xfrm>
          <a:prstGeom prst="downArrow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5065776"/>
            <a:ext cx="11057839" cy="713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A65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175504"/>
            <a:ext cx="10600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⑤ 行业液冷产品对标分析　·　外部校验层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结论：Vertiv 在 121 kW 与 450 kW 之间无行级 SKU，本项目 200 kW 正落在这个空档里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方向性很重要：任何下游文档与总体设计 v2.2 冲突，以 v2.2 为准；v2.2 与订单 OEM 受控文件冲突，以 OEM 为准。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执行摘要 1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需求侧已经收敛，口径纪律是这套文档最大的资产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11057839" cy="918971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59436" cy="918971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19656"/>
            <a:ext cx="10673791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四套功率口径并存，谁也不能覆盖谁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NVIDIA RA 142 kW、Lenovo TDP 135 kW、Lenovo EDP 峰值 155 kW、本项目液冷选型 150 kW —— 描述的是不同产品、不同配置、不同参考设计。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84348"/>
            <a:ext cx="11057839" cy="918971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84348"/>
            <a:ext cx="59436" cy="918971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884932"/>
            <a:ext cx="10673791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三套液气比在市面上流传，本项目只认 GB300 OEM 的 90/10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Vertiv 宣传 50–95%、通用材料 70/30、SuperPOD 72/28 都不是 GB300 的口径。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49624"/>
            <a:ext cx="11057839" cy="918971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49624"/>
            <a:ext cx="59436" cy="918971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950208"/>
            <a:ext cx="10673791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水力唯一合法依据是 Lenovo Table 27，不是热平衡反算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行业初筛用的 1.0–1.5 L/min·kW 比流量，与 OEM 表实际隐含的 0.39–1.18 相差近三倍。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4899"/>
            <a:ext cx="11057839" cy="918971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914899"/>
            <a:ext cx="59436" cy="918971"/>
          </a:xfrm>
          <a:prstGeom prst="rect">
            <a:avLst/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5015483"/>
            <a:ext cx="10673791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证据分级 L1–L6：低级别不得覆盖高级别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订单 OEM 受控文件最高，宣传彩页与媒体转述不得作为任何工程或商务保证点。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这三条纪律覆盖了跨报告比对时发现的绝大多数潜在错误。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执行摘要 2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设备与安全：最贵的一项由最恶劣工况决定，最险的一项刚被逐点校核逼出来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59436" cy="76809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196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200 kW 这个档位是被市场空档定义出来的，不是某家的现成型号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Vertiv 在 121 kW 与 450 kW 之间没有行级 SKU，而 GB300 单柜需求正落在中间。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334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33472"/>
            <a:ext cx="59436" cy="768096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7340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板式换热器由 FAT-B 控制，不是由额定工况控制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暖水 3 K 端温差下要求污堵 UA ≥ 66.7 kW/K、面积 ≥22 m²，是整台设备最贵最难保证的一项。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478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547872"/>
            <a:ext cx="59436" cy="768096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6484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逐点校核暴露接液件耐温临界：回液 56–62 ℃，现规格 60 ℃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要么把规格提到 ≥65 ℃，要么由 ICD 给出各点实际同时负荷。这是纸面复核逼出来的结论。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4622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462272"/>
            <a:ext cx="59436" cy="768096"/>
          </a:xfrm>
          <a:prstGeom prst="rect">
            <a:avLst/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5628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安全核心红线：软件不得作为漏液的唯一切断手段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严重漏液由独立于主控的硬接线安全链撤销泵与阀使能，经 VFD 的 STO + 主接触器双断。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3766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376672"/>
            <a:ext cx="59436" cy="76809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4772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失冷容忍窗口约 90 秒，与传统机房的 30 分钟差一个数量级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这就是为什么 RD110 要求 CDU 与设施泵由 UPS 供电、冷却续航 5 min、冷却 UPS 按 2N 配置。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执行摘要 3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钱与市场：公开数字打架，是因为它们在量不同的层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11057839" cy="918971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59436" cy="918971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19656"/>
            <a:ext cx="10673791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成本必须先分表再分层，混表是公开数字打架的根源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柜内液冷 5.1 万美元来自机柜 BOM；柜外设施热管理 21.1 万来自另一表，等于风冷 11.0 + 柜外液冷 4.4 + 配套基础设施 5.7。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84348"/>
            <a:ext cx="11057839" cy="918971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84348"/>
            <a:ext cx="59436" cy="918971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884932"/>
            <a:ext cx="10673791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国内与海外是两套价格体系，不是同一商品的折扣关系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海外溢价买的是认证名录、现场数据与漏液责任承担，不能用汇率直接换算再横向比价。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49624"/>
            <a:ext cx="11057839" cy="918971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49624"/>
            <a:ext cx="59436" cy="918971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950208"/>
            <a:ext cx="10673791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专用 CDU 的代价要在立项文件里写明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按 1 MW 折算，专用 1+1 的 capex 效率比共享行级差 3–5 倍；买的是故障域隔离，不是成本最优。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4899"/>
            <a:ext cx="11057839" cy="918971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914899"/>
            <a:ext cx="59436" cy="918971"/>
          </a:xfrm>
          <a:prstGeom prst="rect">
            <a:avLst/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5015483"/>
            <a:ext cx="10673791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项目状态：设计基本收敛、接口尚未关闭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CDU 侧 27 条 ICD 中 11 条待冻结，电控侧另有 4 条阻塞（电控 ICD 口径，需求口径为 5 项）—— 这是当前唯一的瓶颈。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明确不采用的口径：「GB300 液冷 38 万美元、占机架 42%」与三层边界全部冲突。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口径纪律 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四个功率数字，四个坐标系，相加就是错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73936"/>
            <a:ext cx="6446520" cy="603504"/>
          </a:xfrm>
          <a:prstGeom prst="roundRect">
            <a:avLst>
              <a:gd name="adj" fmla="val 10000"/>
            </a:avLst>
          </a:prstGeom>
          <a:solidFill>
            <a:srgbClr val="EEF5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883664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142 kW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901952"/>
            <a:ext cx="4233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NVIDIA RA 公开参考上限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23744"/>
            <a:ext cx="6446520" cy="603504"/>
          </a:xfrm>
          <a:prstGeom prst="roundRect">
            <a:avLst>
              <a:gd name="adj" fmla="val 10000"/>
            </a:avLst>
          </a:prstGeom>
          <a:solidFill>
            <a:srgbClr val="EEF5FF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633472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135 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651760"/>
            <a:ext cx="4233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Lenovo TDP（持续功耗）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73552"/>
            <a:ext cx="6446520" cy="603504"/>
          </a:xfrm>
          <a:prstGeom prst="roundRect">
            <a:avLst>
              <a:gd name="adj" fmla="val 10000"/>
            </a:avLst>
          </a:prstGeom>
          <a:solidFill>
            <a:srgbClr val="FDE8E6"/>
          </a:solidFill>
          <a:ln w="254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383280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155 kW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3401568"/>
            <a:ext cx="4233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Lenovo EDP 峰值　←　本项目设计包络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23360"/>
            <a:ext cx="6446520" cy="603504"/>
          </a:xfrm>
          <a:prstGeom prst="roundRect">
            <a:avLst>
              <a:gd name="adj" fmla="val 10000"/>
            </a:avLst>
          </a:prstGeom>
          <a:solidFill>
            <a:srgbClr val="E6F6F2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133088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150 kW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4151376"/>
            <a:ext cx="4233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液冷设备选型负荷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73168"/>
            <a:ext cx="6446520" cy="603504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882896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25 kW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4901184"/>
            <a:ext cx="4233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风侧选型负荷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773936"/>
            <a:ext cx="4355287" cy="2103120"/>
          </a:xfrm>
          <a:prstGeom prst="roundRect">
            <a:avLst>
              <a:gd name="adj" fmla="val 6000"/>
            </a:avLst>
          </a:prstGeom>
          <a:solidFill>
            <a:srgbClr val="FDE8E6"/>
          </a:solidFill>
          <a:ln w="19050">
            <a:solidFill>
              <a:srgbClr val="EFB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1938528"/>
            <a:ext cx="3952951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不能这么用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✗  150 + 25 + 200 ≠ 机柜实际热量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✗  把 142 kW 与 155 kW 当作同一产品的两个保证点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✗  把 CDU 额定 200 kW 与风侧能力相加，宣称「整柜处理能力」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4023360"/>
            <a:ext cx="4355287" cy="1481328"/>
          </a:xfrm>
          <a:prstGeom prst="roundRect">
            <a:avLst>
              <a:gd name="adj" fmla="val 6000"/>
            </a:avLst>
          </a:prstGeom>
          <a:solidFill>
            <a:srgbClr val="E6F6F2"/>
          </a:solidFill>
          <a:ln w="19050">
            <a:solidFill>
              <a:srgbClr val="A8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0648" y="4169664"/>
            <a:ext cx="3952951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正确做法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任何进入合同、招标或对外材料的数字，都必须能回答三个问题：哪个口径、哪个分母、哪一级证据。答不出来就不要写进去。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4F83"/>
                </a:solidFill>
                <a:latin typeface="微软雅黑"/>
                <a:ea typeface="微软雅黑"/>
                <a:cs typeface="微软雅黑"/>
              </a:rPr>
              <a:t>口径纪律 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液气比有四个版本在流传，本项目只认 90/10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73936"/>
            <a:ext cx="6446520" cy="603504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883664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50–95%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901952"/>
            <a:ext cx="4233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Vertiv 彩页宣传区间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23744"/>
            <a:ext cx="6446520" cy="603504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633472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70 /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651760"/>
            <a:ext cx="4233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「AI ready」通用示意材料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73552"/>
            <a:ext cx="6446520" cy="603504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383280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72 / 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3401568"/>
            <a:ext cx="4233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Blackwell SuperPOD 参考设计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23360"/>
            <a:ext cx="6446520" cy="603504"/>
          </a:xfrm>
          <a:prstGeom prst="roundRect">
            <a:avLst>
              <a:gd name="adj" fmla="val 10000"/>
            </a:avLst>
          </a:prstGeom>
          <a:solidFill>
            <a:srgbClr val="E6F6F2"/>
          </a:solidFill>
          <a:ln w="25400">
            <a:solidFill>
              <a:srgbClr val="00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133088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90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4151376"/>
            <a:ext cx="4233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GB300 OEM 实际　←　唯一采用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773936"/>
            <a:ext cx="4355287" cy="2103120"/>
          </a:xfrm>
          <a:prstGeom prst="roundRect">
            <a:avLst>
              <a:gd name="adj" fmla="val 6000"/>
            </a:avLst>
          </a:prstGeom>
          <a:solidFill>
            <a:srgbClr val="FDE8E6"/>
          </a:solidFill>
          <a:ln w="19050">
            <a:solidFill>
              <a:srgbClr val="EFB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1938528"/>
            <a:ext cx="3952951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不能这么用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✗  用 70/30 采购风侧 = 风冷超配三倍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✗  用「全液冷」取消 CRAH = 残余热量失控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✗  把不同参考设计的比例混在同一页 PPT 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4023360"/>
            <a:ext cx="4355287" cy="1481328"/>
          </a:xfrm>
          <a:prstGeom prst="roundRect">
            <a:avLst>
              <a:gd name="adj" fmla="val 6000"/>
            </a:avLst>
          </a:prstGeom>
          <a:solidFill>
            <a:srgbClr val="E6F6F2"/>
          </a:solidFill>
          <a:ln w="19050">
            <a:solidFill>
              <a:srgbClr val="A8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4169664"/>
            <a:ext cx="3952951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正确做法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峰值液冷负荷 = 155 × 90% ≈ 139.5 kW；液冷设备按 150 kW 选型，风侧按 25 kW 选型，两者分别选型、分别验收。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口径纪律 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说千瓦价之前，先说清楚分母是哪一个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73936"/>
            <a:ext cx="6446520" cy="603504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883664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分母 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901952"/>
            <a:ext cx="4233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设备额定冷量 —— CDU 200 / 600 kW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23744"/>
            <a:ext cx="6446520" cy="603504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633472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分母 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651760"/>
            <a:ext cx="4233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机柜排热 —— 液冷 139.5 或选型 150 kW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73552"/>
            <a:ext cx="6446520" cy="603504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383280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分母 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3401568"/>
            <a:ext cx="4233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设施口径 —— Bernstein 169 kW/柜，1 GW ≈ 5,929 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23360"/>
            <a:ext cx="6446520" cy="603504"/>
          </a:xfrm>
          <a:prstGeom prst="roundRect">
            <a:avLst>
              <a:gd name="adj" fmla="val 10000"/>
            </a:avLst>
          </a:prstGeom>
          <a:solidFill>
            <a:srgbClr val="E6F6F2"/>
          </a:solidFill>
          <a:ln w="25400">
            <a:solidFill>
              <a:srgbClr val="00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133088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1 : 7.2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4151376"/>
            <a:ext cx="4233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工作汇率 USD : CNY，仅用于换算，不用于比价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773936"/>
            <a:ext cx="4355287" cy="2103120"/>
          </a:xfrm>
          <a:prstGeom prst="roundRect">
            <a:avLst>
              <a:gd name="adj" fmla="val 6000"/>
            </a:avLst>
          </a:prstGeom>
          <a:solidFill>
            <a:srgbClr val="FDE8E6"/>
          </a:solidFill>
          <a:ln w="19050">
            <a:solidFill>
              <a:srgbClr val="EFB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1938528"/>
            <a:ext cx="3952951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不能这么用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✗  把铭牌 kW 当成单柜发热量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✗  把国内元/kW 与海外 $/kW 用汇率直接互换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✗  把项目 L1 / L2 与 Bernstein 柜外设施表放在一起横比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4023360"/>
            <a:ext cx="4355287" cy="1481328"/>
          </a:xfrm>
          <a:prstGeom prst="roundRect">
            <a:avLst>
              <a:gd name="adj" fmla="val 6000"/>
            </a:avLst>
          </a:prstGeom>
          <a:solidFill>
            <a:srgbClr val="E6F6F2"/>
          </a:solidFill>
          <a:ln w="19050">
            <a:solidFill>
              <a:srgbClr val="A8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4169664"/>
            <a:ext cx="3952951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正确做法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同一句「多少元每千瓦」，换个分母能差三倍。每个金额都要同时标注：属于哪一层、哪个市场、除以了哪个功率。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需求基线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GB300 NVL72 的边界：155 kW 峰值、九成走液、混合冷却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73352"/>
            <a:ext cx="2586151" cy="6858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139.5</a:t>
            </a:r>
            <a:r>
              <a:rPr sz="16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 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峰值液冷负荷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155 kW × 90%，CDU 裕量计算基准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823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823" y="1673352"/>
            <a:ext cx="2586151" cy="68580"/>
          </a:xfrm>
          <a:prstGeom prst="rect">
            <a:avLst/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7127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4F83"/>
                </a:solidFill>
                <a:latin typeface="微软雅黑"/>
                <a:ea typeface="微软雅黑"/>
                <a:cs typeface="微软雅黑"/>
              </a:rPr>
              <a:t>8 × 33</a:t>
            </a:r>
            <a:r>
              <a:rPr sz="1600" b="1" i="0">
                <a:solidFill>
                  <a:srgbClr val="174F83"/>
                </a:solidFill>
                <a:latin typeface="微软雅黑"/>
                <a:ea typeface="微软雅黑"/>
                <a:cs typeface="微软雅黑"/>
              </a:rPr>
              <a:t>  kW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7127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供电架构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8 个电源架，每架 6 × 5.5 kW PSU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4719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4719" y="1673352"/>
            <a:ext cx="2586151" cy="6858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1023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W45</a:t>
            </a:r>
            <a:r>
              <a:rPr sz="16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NVSwitch Tray 水温等级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工作水温 2–50 ℃，整柜运行仍查 Table 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615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8615" y="1673352"/>
            <a:ext cx="2586151" cy="6858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4919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Tier 3</a:t>
            </a:r>
            <a:r>
              <a:rPr sz="16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4919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可用性目标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并发可维护、无单点故障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904488"/>
            <a:ext cx="11057839" cy="909827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904488"/>
            <a:ext cx="59436" cy="909827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005072"/>
            <a:ext cx="10673791" cy="7452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计算配置：72 × B300 GPU、36 × Grace CPU、18 个 Compute Tray、9 个 NVSwitch Tray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机柜 600 × 2294 × 1068 mm，空柜 185 kg；满配湿重待 ICD 给出。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960620"/>
            <a:ext cx="11057839" cy="909827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960620"/>
            <a:ext cx="59436" cy="909827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061204"/>
            <a:ext cx="10673791" cy="7452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NVIDIA 产品页写「fully liquid-cooled」，Lenovo 与 SuperPOD 明确写 hybrid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本项目按混合冷却设计，保留 CRAH / RDHx；漏液检测为 Tray 级 + Rack 级双级。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2026-09-05 复核 NVIDIA RA 仍为 142 kW、液冷、8×33 kW，无新增单柜水力数字。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水力基线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入口温度升 20 K，流量涨 3 倍，压降涨 8 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01_tabl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31" y="1645920"/>
            <a:ext cx="10885231" cy="41513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Lenovo LP2357 Table 27 是本项目唯一具 L1 级效力的水力数据，形式是温度—流量—压降三元成对表，不是可以外推的公式。禁止用固定 10 K 温升反算流量：30 ℃ 点偏差达 205%。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工质与洁净度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洁净度门槛按 25 μm 定，比行业常写的 50 μm 更严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59436" cy="76809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196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工质只用 DI 水或 PG25，两者是两套独立数据集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订单选项，不可混用。华为常用的乙二醇 EG 与本项目不是一张表，其压差流量数据只作对照。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334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33472"/>
            <a:ext cx="59436" cy="768096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7340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TCS 过滤 25 μm 双联可在线切换，且不设未过滤直通旁路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OCP 要求投运 ≤25 μm、稳态有文献写 ≤10 μm；本项目取 25 μm，匹配冷板微通道与 UQD 敏感度。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478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547872"/>
            <a:ext cx="59436" cy="768096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6484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FWS 侧 100 μm 前置粗滤；询价时目数与微米必须统一单位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Vertiv 一次侧厂配 500 μm，华为写一次 50 目、二次 270 目 —— 目数与微米不可直接互换。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4622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462272"/>
            <a:ext cx="59436" cy="768096"/>
          </a:xfrm>
          <a:prstGeom prst="rect">
            <a:avLst/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5628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TCS 与 FWS 分表管理，在线测电导率 / pH / 浊度，季度取样化验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禁止使用汽车防冻液与任何未经验证的混液。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3766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376672"/>
            <a:ext cx="59436" cy="76809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4772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接液材料 TCS 用 316L，按工质选 EPDM 或 FKM 密封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供应商须提供完整的材料兼容矩阵；快接头族为 UQDB04 盲插，Cv 与数量待 ICD 冻结。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可用性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GPU 能扛住的失冷时间大约 90 秒，不是 30 分钟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09_loss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99509"/>
            <a:ext cx="7452360" cy="22441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38744" y="1627632"/>
            <a:ext cx="3386023" cy="118872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38744" y="1627632"/>
            <a:ext cx="3386023" cy="5029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1801368"/>
            <a:ext cx="30934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90 秒不是 NVIDIA 官方指标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出自 Vertiv 材料原图。第三方估计 10–60 s 更严苛。当作设计裕量参照，不作合同保证值。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2962656"/>
            <a:ext cx="3386023" cy="118872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38744" y="2962656"/>
            <a:ext cx="3386023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3136392"/>
            <a:ext cx="30934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双泵切换必须重叠进行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禁止先停后启；判定 2 s + 备泵升速 8 s + 主泵斜坡停 5 s，目标 ≤15 s。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8744" y="4297680"/>
            <a:ext cx="3386023" cy="118872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8744" y="4297680"/>
            <a:ext cx="3386023" cy="50292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4471416"/>
            <a:ext cx="309341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RD110 的要求已向供电看齐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CDU 与 FWS 泵由 UPS 供电、冷却续航 ≥5 min、冷却 UPS 按 2N；国内 A 级另有 15 min 蓄冷口径。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传统机房的 30 分钟中断恢复标准在液冷场景下完全不适用 —— 差一个数量级。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系统架构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从芯片到大气，热量要过六层；缺一层，CDU 再好也交付不了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1675333" cy="1572768"/>
          </a:xfrm>
          <a:prstGeom prst="roundRect">
            <a:avLst>
              <a:gd name="adj" fmla="val 8000"/>
            </a:avLst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975104"/>
            <a:ext cx="1455877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FD8F5"/>
                </a:solidFill>
                <a:latin typeface="微软雅黑"/>
                <a:ea typeface="微软雅黑"/>
                <a:cs typeface="微软雅黑"/>
              </a:rPr>
              <a:t>L0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芯片 / Tray</a:t>
            </a:r>
          </a:p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DEAF6"/>
                </a:solidFill>
                <a:latin typeface="微软雅黑"/>
                <a:ea typeface="微软雅黑"/>
                <a:cs typeface="微软雅黑"/>
              </a:rPr>
              <a:t>72×B300 · 36×Grace
冷板 · Tray 级漏检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60549" y="2523744"/>
            <a:ext cx="164592" cy="182880"/>
          </a:xfrm>
          <a:prstGeom prst="rightArrow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43429" y="1828800"/>
            <a:ext cx="1675333" cy="1572768"/>
          </a:xfrm>
          <a:prstGeom prst="roundRect">
            <a:avLst>
              <a:gd name="adj" fmla="val 8000"/>
            </a:avLst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53157" y="1975104"/>
            <a:ext cx="1455877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FD8F5"/>
                </a:solidFill>
                <a:latin typeface="微软雅黑"/>
                <a:ea typeface="微软雅黑"/>
                <a:cs typeface="微软雅黑"/>
              </a:rPr>
              <a:t>L1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机柜歧管</a:t>
            </a:r>
          </a:p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DEAF6"/>
                </a:solidFill>
                <a:latin typeface="微软雅黑"/>
                <a:ea typeface="微软雅黑"/>
                <a:cs typeface="微软雅黑"/>
              </a:rPr>
              <a:t>304L/316L Manifold
UQDB04 盲插 · 30 psi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37050" y="2523744"/>
            <a:ext cx="164592" cy="182880"/>
          </a:xfrm>
          <a:prstGeom prst="rightArrow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9930" y="1828800"/>
            <a:ext cx="1675333" cy="1572768"/>
          </a:xfrm>
          <a:prstGeom prst="roundRect">
            <a:avLst>
              <a:gd name="adj" fmla="val 8000"/>
            </a:avLst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9658" y="1975104"/>
            <a:ext cx="1455877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FD8F5"/>
                </a:solidFill>
                <a:latin typeface="微软雅黑"/>
                <a:ea typeface="微软雅黑"/>
                <a:cs typeface="微软雅黑"/>
              </a:rPr>
              <a:t>L2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CDU</a:t>
            </a:r>
          </a:p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DEAF6"/>
                </a:solidFill>
                <a:latin typeface="微软雅黑"/>
                <a:ea typeface="微软雅黑"/>
                <a:cs typeface="微软雅黑"/>
              </a:rPr>
              <a:t>2×200 kW L2L · N+1
板换 UA≥66.7 · DN65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13551" y="2523744"/>
            <a:ext cx="164592" cy="182880"/>
          </a:xfrm>
          <a:prstGeom prst="rightArrow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6431" y="1828800"/>
            <a:ext cx="1675333" cy="1572768"/>
          </a:xfrm>
          <a:prstGeom prst="roundRect">
            <a:avLst>
              <a:gd name="adj" fmla="val 8000"/>
            </a:avLst>
          </a:prstGeom>
          <a:solidFill>
            <a:srgbClr val="007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6159" y="1975104"/>
            <a:ext cx="1455877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FD8F5"/>
                </a:solidFill>
                <a:latin typeface="微软雅黑"/>
                <a:ea typeface="微软雅黑"/>
                <a:cs typeface="微软雅黑"/>
              </a:rPr>
              <a:t>L3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二次侧网络</a:t>
            </a:r>
          </a:p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DEAF6"/>
                </a:solidFill>
                <a:latin typeface="微软雅黑"/>
                <a:ea typeface="微软雅黑"/>
                <a:cs typeface="微软雅黑"/>
              </a:rPr>
              <a:t>预制环管 · 均流 ≤10%
决定单柜故障半径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90052" y="2523744"/>
            <a:ext cx="164592" cy="182880"/>
          </a:xfrm>
          <a:prstGeom prst="rightArrow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2932" y="1828800"/>
            <a:ext cx="1675333" cy="1572768"/>
          </a:xfrm>
          <a:prstGeom prst="roundRect">
            <a:avLst>
              <a:gd name="adj" fmla="val 8000"/>
            </a:avLst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2660" y="1975104"/>
            <a:ext cx="1455877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FD8F5"/>
                </a:solidFill>
                <a:latin typeface="微软雅黑"/>
                <a:ea typeface="微软雅黑"/>
                <a:cs typeface="微软雅黑"/>
              </a:rPr>
              <a:t>L4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一次冷源</a:t>
            </a:r>
          </a:p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DEAF6"/>
                </a:solidFill>
                <a:latin typeface="微软雅黑"/>
                <a:ea typeface="微软雅黑"/>
                <a:cs typeface="微软雅黑"/>
              </a:rPr>
              <a:t>塔 / 干冷器 / 冷机
FWS 27/37 或 37/47 ℃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766553" y="2523744"/>
            <a:ext cx="164592" cy="182880"/>
          </a:xfrm>
          <a:prstGeom prst="rightArrow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49434" y="1828800"/>
            <a:ext cx="1675333" cy="1572768"/>
          </a:xfrm>
          <a:prstGeom prst="roundRect">
            <a:avLst>
              <a:gd name="adj" fmla="val 8000"/>
            </a:avLst>
          </a:prstGeom>
          <a:solidFill>
            <a:srgbClr val="5B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9162" y="1975104"/>
            <a:ext cx="1455877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9FD8F5"/>
                </a:solidFill>
                <a:latin typeface="微软雅黑"/>
                <a:ea typeface="微软雅黑"/>
                <a:cs typeface="微软雅黑"/>
              </a:rPr>
              <a:t>L5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交付与服务</a:t>
            </a:r>
          </a:p>
          <a:p>
            <a:pPr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DEAF6"/>
                </a:solidFill>
                <a:latin typeface="微软雅黑"/>
                <a:ea typeface="微软雅黑"/>
                <a:cs typeface="微软雅黑"/>
              </a:rPr>
              <a:t>冲洗 · 注液 · 换液
化验 · FAT / SAT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51129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红箭头 = 热流方向：芯片 → 冷板 → 歧管 → CDU 板换 → 冷源 → 大气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77056"/>
            <a:ext cx="11057839" cy="105156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877056"/>
            <a:ext cx="59436" cy="105156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3977640"/>
            <a:ext cx="10673791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最常见的失败不是 CDU 选小了，而是某一层没人负责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L3 环管决定单机柜故障半径，比 CDU 铭牌更决定可用性；L5 流体服务在彩页上不出现，却是 SAT 的前提。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074920"/>
            <a:ext cx="11057839" cy="105156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074920"/>
            <a:ext cx="59436" cy="105156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175504"/>
            <a:ext cx="10673791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招标只锁 L2 的 CDU 参数，L1 / L3 / L5 会在现场变成签证与工期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验收按层做，不按设备做：每一层都要有明确的责任方与关闭标志。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热量去向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155 kW 里约 90% 走液、10% 走风，风冷不能取消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9786187" cy="1005840"/>
          </a:xfrm>
          <a:prstGeom prst="roundRect">
            <a:avLst>
              <a:gd name="adj" fmla="val 4000"/>
            </a:avLst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176272"/>
            <a:ext cx="923754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液冷路径 ≈ 139.5 kW（155 × 90%）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BE9FB"/>
                </a:solidFill>
                <a:latin typeface="微软雅黑"/>
                <a:ea typeface="微软雅黑"/>
                <a:cs typeface="微软雅黑"/>
              </a:rPr>
              <a:t>CPU / GPU / HBM / NVSwitch 冷板　·　液冷设备按 150 kW 选型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07979" y="2011680"/>
            <a:ext cx="1216787" cy="1005840"/>
          </a:xfrm>
          <a:prstGeom prst="roundRect">
            <a:avLst>
              <a:gd name="adj" fmla="val 4000"/>
            </a:avLst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6267" y="2249424"/>
            <a:ext cx="1180211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≈15.5 kW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3D6"/>
                </a:solidFill>
                <a:latin typeface="微软雅黑"/>
                <a:ea typeface="微软雅黑"/>
                <a:cs typeface="微软雅黑"/>
              </a:rPr>
              <a:t>风侧选型 25 kW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310128"/>
            <a:ext cx="11057839" cy="847344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310128"/>
            <a:ext cx="59436" cy="847344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410712"/>
            <a:ext cx="10673791" cy="682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残余风冷承担 OSFP 光模块、存储与 PDB 的热量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保留 CRAH / RDHx 是强制项。「fully liquid-cooled」是营销表述，不是设施设计依据。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03776"/>
            <a:ext cx="11057839" cy="847344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303776"/>
            <a:ext cx="59436" cy="84734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404360"/>
            <a:ext cx="10673791" cy="682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150 + 25 + 200 不等于机柜实际热量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三者分别是液冷选型、风侧选型与设备额定，坐标不同，任何材料里都不得相加。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97424"/>
            <a:ext cx="11057839" cy="847344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297424"/>
            <a:ext cx="59436" cy="847344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398008"/>
            <a:ext cx="10673791" cy="682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液气比只认 GB300 OEM 的 90/10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用 70/30 采购风侧会超配三倍；用「全液冷」取消 CRAH 会让残余热量失控。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型式选择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L2A 排给空气、L2L 排给冷源，生产柜只能选 L2L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11057839" cy="996695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59436" cy="996695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19656"/>
            <a:ext cx="10673791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本项目采用 L2L 液液型：经板换把热量交给室外冷源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TCS 与 FWS 物理隔离，适合 100 kW 以上高密新建。Vertiv 全系印刷值为一次侧 5–40 ℃、二次侧 10–45 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2072"/>
            <a:ext cx="11057839" cy="996695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62072"/>
            <a:ext cx="59436" cy="996695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962656"/>
            <a:ext cx="10673791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L2A 风液型不适用于 GB300 生产柜，三个条件同时不成立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冷量不够、传热对象是机房空气、与 90/10 的残余风冷冲突。代表产品 Vertiv CDU 70、LITEON 约 140 kW 侧车。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005072"/>
            <a:ext cx="11057839" cy="996695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005072"/>
            <a:ext cx="59436" cy="996695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05656"/>
            <a:ext cx="10673791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L2A 的合理场景是实验室、风改液与无一次水的边缘机房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初投资低、零冷塔、零架高地板 —— 但不能用它承诺 GB300 满配训练负荷。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148071"/>
            <a:ext cx="11057839" cy="996695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148071"/>
            <a:ext cx="59436" cy="996695"/>
          </a:xfrm>
          <a:prstGeom prst="rect">
            <a:avLst/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5248655"/>
            <a:ext cx="10673791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产品窗能罩住，不等于每个点都能运行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10 ℃ 并非 GB300 的运行点；低 FWS 温度下部分高温入口点会出现温度交叉，必须逐点校核。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CDU 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200 kW 平台，2 台 1 用 1 备，对选型负荷留 33% 裕量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73352"/>
            <a:ext cx="2586151" cy="6858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200</a:t>
            </a:r>
            <a:r>
              <a:rPr sz="16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 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单台额定换热量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10%–100% 连续调节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823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823" y="1673352"/>
            <a:ext cx="2586151" cy="6858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7127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+33</a:t>
            </a:r>
            <a:r>
              <a:rPr sz="16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 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7127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对 150 kW 选型负荷的裕量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对 139.5 kW 峰值液冷为 +43%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4719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4719" y="1673352"/>
            <a:ext cx="2586151" cy="68580"/>
          </a:xfrm>
          <a:prstGeom prst="rect">
            <a:avLst/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1023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174F83"/>
                </a:solidFill>
                <a:latin typeface="微软雅黑"/>
                <a:ea typeface="微软雅黑"/>
                <a:cs typeface="微软雅黑"/>
              </a:rPr>
              <a:t>19</a:t>
            </a:r>
            <a:r>
              <a:rPr sz="1600" b="1" i="0">
                <a:solidFill>
                  <a:srgbClr val="174F83"/>
                </a:solidFill>
                <a:latin typeface="微软雅黑"/>
                <a:ea typeface="微软雅黑"/>
                <a:cs typeface="微软雅黑"/>
              </a:rPr>
              <a:t>  m³/h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平台最大校核流量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统一覆盖 DI 水与 PG25 两种配方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615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8615" y="1673352"/>
            <a:ext cx="2586151" cy="6858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4919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1–8</a:t>
            </a:r>
            <a:r>
              <a:rPr sz="16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  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4919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群控能力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任一台整机退出不中断机柜冷却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904488"/>
            <a:ext cx="11057839" cy="909827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904488"/>
            <a:ext cx="59436" cy="909827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005072"/>
            <a:ext cx="10673791" cy="7452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整机 N+1 是买来的故障域隔离：单机双泵不能替代整机冗余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任一台可隔离维护而不中断机柜冷却；公共母管须可隔离并设止回。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960620"/>
            <a:ext cx="11057839" cy="909827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960620"/>
            <a:ext cx="59436" cy="909827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061204"/>
            <a:ext cx="10673791" cy="7452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控制器按订单 ICD 调用工况表，不把某个固定工况写死进设备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OEM 运行包络：入口 25–45 ℃、流量 3.54–10.62 m³/h、机柜压降 16–127 kPa，实施流量/差压/绝压三重限幅。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柜式 L2L，600×1200×2000 mm 级，IP54；接口 DN65 初选，TCS 316L，FWS PN10。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工况矩阵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板换选型由最恶劣的 FAT-B 决定，不是由额定工况决定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73936"/>
          <a:ext cx="11057836" cy="212140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63253"/>
                <a:gridCol w="1488555"/>
                <a:gridCol w="2764459"/>
                <a:gridCol w="2551808"/>
                <a:gridCol w="3189761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工况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负荷 / 工质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四温与流量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验证目标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对设计的控制作用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</a:tr>
              <a:tr h="554735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FAT-A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 kW / DI 水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TCS 32/42 ℃　FWS 27/37 ℃
TCS ≈ 17.3 m³/h（1.44 L/min·kW）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K 端温差下的平台性能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验证用，不等同于 OEM 机柜运行点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554735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B423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FAT-B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 kW / DI 水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TCS 40/50 ℃　FWS 37/47 ℃
LMTD = 3 K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暖水污堵 UA ≥ 66.7 kW/K
有效面积 ≥22 m²，两侧压降 ≤40 kPa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B423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选型控制点：板换选型、阀全开压降与极端环境能力由此决定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</a:tr>
              <a:tr h="554735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FAT-PG25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 kW / PG25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K 温升约 18.6 m³/h
ρ≈1025、cp≈3.78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丙二醇配方下的流量与压降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最终流量按供应商实际物性修正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17.3 m³/h 是 CDU 侧 FAT 流量，不是机柜运行流量 —— 机柜侧查 Table 27，最大 10.62 m³/h。暖水工况把换热温差压到 3 K，这是整台设备最贵、最难保证的一项。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液路顺序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过滤在泵之前、补液接泵吸入侧 —— 顺序本身就是工程含义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810512"/>
            <a:ext cx="1992111" cy="932688"/>
          </a:xfrm>
          <a:prstGeom prst="roundRect">
            <a:avLst>
              <a:gd name="adj" fmla="val 9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993392"/>
            <a:ext cx="177265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机柜热回液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4F3EF"/>
                </a:solidFill>
                <a:latin typeface="微软雅黑"/>
                <a:ea typeface="微软雅黑"/>
                <a:cs typeface="微软雅黑"/>
              </a:rPr>
              <a:t>≈ 56–62 ℃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04759" y="2194560"/>
            <a:ext cx="182880" cy="164592"/>
          </a:xfrm>
          <a:prstGeom prst="rightArrow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3359" y="1810512"/>
            <a:ext cx="1992111" cy="9326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2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3087" y="1993392"/>
            <a:ext cx="177265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双联过滤 25 μm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在线切换 · 无直通旁路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1191" y="2194560"/>
            <a:ext cx="182880" cy="164592"/>
          </a:xfrm>
          <a:prstGeom prst="rightArrow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9791" y="1810512"/>
            <a:ext cx="1992111" cy="9326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2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9519" y="1993392"/>
            <a:ext cx="177265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 × 100% 变频泵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无轴封 · 4.0 kW 初选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37623" y="2194560"/>
            <a:ext cx="182880" cy="164592"/>
          </a:xfrm>
          <a:prstGeom prst="rightArrow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6223" y="1810512"/>
            <a:ext cx="1992111" cy="9326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0B2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5951" y="1993392"/>
            <a:ext cx="177265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可拆式逆流板换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UA≥66.7 · 面积 ≥22 m²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04055" y="2194560"/>
            <a:ext cx="182880" cy="164592"/>
          </a:xfrm>
          <a:prstGeom prst="rightArrow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32655" y="1810512"/>
            <a:ext cx="1992111" cy="932688"/>
          </a:xfrm>
          <a:prstGeom prst="roundRect">
            <a:avLst>
              <a:gd name="adj" fmla="val 9000"/>
            </a:avLst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42383" y="1993392"/>
            <a:ext cx="177265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冷供液出 CDU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4F3EF"/>
                </a:solidFill>
                <a:latin typeface="微软雅黑"/>
                <a:ea typeface="微软雅黑"/>
                <a:cs typeface="微软雅黑"/>
              </a:rPr>
              <a:t>DN65 · 316L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871216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→ 机柜供液（查 Table 27：25–45 ℃ / 3.54–10.62 m³/h / 16–127 kPa）→ 冷板 → 回液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218688"/>
            <a:ext cx="11057839" cy="877824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218688"/>
            <a:ext cx="59436" cy="87782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319272"/>
            <a:ext cx="1067379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过滤器放在泵前，保护叶轮与板换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双联可在线切换，但不设未过滤直通旁路 —— 这是彩页方案与能过 SAT 的 P&amp;ID 的分界线。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242816"/>
            <a:ext cx="11057839" cy="877824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242816"/>
            <a:ext cx="59436" cy="877824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343400"/>
            <a:ext cx="1067379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膨胀 / 补液 / 脱气接在泵吸入侧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保证 NPSH 并避免补液冲击；补液次数与补液量要当作泄漏诊断，频繁补液必须报警。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266944"/>
            <a:ext cx="11057839" cy="877824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266944"/>
            <a:ext cx="59436" cy="877824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367528"/>
            <a:ext cx="1067379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排气、排污与 PSV 泄放全部接封闭收集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不得就地排放。一次侧 TCV-101 调节 + 100 μm 前置粗滤，DN65 / PN10。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水力闭合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泵有 250 kPa，但机外只剩 170 kPa，裕量只有一成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08_pressure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45536"/>
            <a:ext cx="11057839" cy="29521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这张图说明两件事：①「250 kPa 泵」与「机外 170 kPa 可用余压」是两个数，招标与合同必须写后者；② 过滤器终阻、板换污堵与外管走向三者中任意一项超预算，45 ℃ 工况点就失去水力可行性。泵选型从「候选」推进到「冻结」之前，必须先闭合这笔账。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逐点校核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能不能跑到某个入口温度，取决于一次水给到多少度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73936"/>
          <a:ext cx="11057836" cy="32186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79419"/>
                <a:gridCol w="1736354"/>
                <a:gridCol w="1644967"/>
                <a:gridCol w="3289935"/>
                <a:gridCol w="3107161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机柜入口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所需流量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机柜压降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FWS 27 ℃（FAT-A 冷源）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FWS 37 ℃（RD110 冷源）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</a:tr>
              <a:tr h="552297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 ℃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3.54 m³/h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15.9 kPa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B423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温度交叉 −2 K，不可行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B423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不可行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552297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℃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4.26 m³/h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22.1 kPa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A65B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临界：端温差恰 3 K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B423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不可行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</a:tr>
              <a:tr h="552297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 ℃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5.34 m³/h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33.8 kPa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08B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可行，UA ≈ 10.7 kW/K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B423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不可行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552297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 ℃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7.14 m³/h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58.6 kPa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08B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可行，UA ≈ 8.9 kW/K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A65B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临界：端温差恰 3 K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</a:tr>
              <a:tr h="552297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 ℃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10.62 m³/h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126.9 kPa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08B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可行，UA ≈ 7.9 kW/K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08B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可行，UA ≈ 16.6 kW/K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核心结论：工况表必须按 FWS 温度分段声明可达点，不能笼统承诺「覆盖 25–45 ℃ 全部五点」。各点所需 UA 在 7.9–24.1 kW/K，都远低于 FAT-B 的 66.7 —— 板换选型仍由 FAT-B 控制。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头号风险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机柜回液比想象的热：56–62 ℃，而现规格只到 60 ℃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73352"/>
            <a:ext cx="2586151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56–62</a:t>
            </a:r>
            <a:r>
              <a:rPr sz="16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  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按 Table 27 反算的回液温度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随入口温度变化不大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823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823" y="1673352"/>
            <a:ext cx="2586151" cy="6858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7127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≥65</a:t>
            </a:r>
            <a:r>
              <a:rPr sz="16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  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7127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接液件应有的许用液温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泵、垫片、板换三者都要满足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4719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4719" y="1673352"/>
            <a:ext cx="2586151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1023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60</a:t>
            </a:r>
            <a:r>
              <a:rPr sz="16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  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当前部件规格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处于临界，未留裕量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615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8615" y="1673352"/>
            <a:ext cx="2586151" cy="6858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4919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停止</a:t>
            </a:r>
            <a:r>
              <a:rPr sz="16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  采购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4919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硬性约束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关闭前不得下达板换与泵的最终采购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904488"/>
            <a:ext cx="11057839" cy="909827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904488"/>
            <a:ext cx="59436" cy="909827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005072"/>
            <a:ext cx="10673791" cy="7452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两条出路：把部件规格提到 ≥65 ℃，或由 ICD 给出各温度点的实际同时负荷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如果实际同时负荷低于满载，回液温度可以相应下降 —— 但这需要 OEM 给数，不能自己假设。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960620"/>
            <a:ext cx="11057839" cy="909827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960620"/>
            <a:ext cx="59436" cy="909827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061204"/>
            <a:ext cx="10673791" cy="7452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这是纯纸面逐点复核逼出来的结论，单点设计根本看不见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入口温度升高时流量同步加大，回液温度反而趋于稳定，所以五个点的回液都落在 56–62 ℃。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定压与蓄冷另有一条红线：膨胀罐选型 80 L，续冷水量需 ≥1,154 L —— 相差近 15 倍，膨胀罐不得兼任蓄冷。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电控架构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安全链和主控是并列的，不是串在它后面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EF5FF"/>
          </a:solidFill>
          <a:ln w="12700">
            <a:solidFill>
              <a:srgbClr val="B9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01368"/>
            <a:ext cx="106555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L4 上位与管理面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设施 BMS / DCIM（Modbus TCP · SNMPv3 · MQTT）　|　IT 管理面 RMC / BMC（Redfish）　|　ETH-BMS 与 ETH-IT 物理分离，网关不做二层桥接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77440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78024"/>
            <a:ext cx="106555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4F83"/>
                </a:solidFill>
                <a:latin typeface="微软雅黑"/>
                <a:ea typeface="微软雅黑"/>
                <a:cs typeface="微软雅黑"/>
              </a:rPr>
              <a:t>L3 网关与网络分区　·　GW-201 协议网关 · 白名单与只读化（Modbus/BACnet 无认证加密，靠分区补偿）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26080"/>
            <a:ext cx="3977639" cy="1225296"/>
          </a:xfrm>
          <a:prstGeom prst="roundRect">
            <a:avLst>
              <a:gd name="adj" fmla="val 7000"/>
            </a:avLst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90672"/>
            <a:ext cx="3648456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CP-201 主控制器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BE9FB"/>
                </a:solidFill>
                <a:latin typeface="微软雅黑"/>
                <a:ea typeface="微软雅黑"/>
                <a:cs typeface="微软雅黑"/>
              </a:rPr>
              <a:t>工业控制板 + 自研 CDU 算法
I/O 基线 RTD 8 · AI 22 · DI 40 · AO 10 · DO 28（含 ≥20% 预留）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33832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并列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9783" y="2926080"/>
            <a:ext cx="3977639" cy="1225296"/>
          </a:xfrm>
          <a:prstGeom prst="roundRect">
            <a:avLst>
              <a:gd name="adj" fmla="val 7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5" y="3090672"/>
            <a:ext cx="3648456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SR-201 硬接线安全链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9D5"/>
                </a:solidFill>
                <a:latin typeface="微软雅黑"/>
                <a:ea typeface="微软雅黑"/>
                <a:cs typeface="微软雅黑"/>
              </a:rPr>
              <a:t>双通道 · 强制导向触点 · 复位监控 · 断线报警
独立于 CP-201，失电即安全侧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926080"/>
            <a:ext cx="2286000" cy="1225296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9050">
            <a:solidFill>
              <a:srgbClr val="E3CA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3184" y="3145536"/>
            <a:ext cx="1993392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HMI 本地</a:t>
            </a:r>
          </a:p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网关与上位全失效时
仍可独立显示与操作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97680"/>
            <a:ext cx="11057839" cy="512064"/>
          </a:xfrm>
          <a:prstGeom prst="roundRect">
            <a:avLst>
              <a:gd name="adj" fmla="val 11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416552"/>
            <a:ext cx="106555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4F83"/>
                </a:solidFill>
                <a:latin typeface="微软雅黑"/>
                <a:ea typeface="微软雅黑"/>
                <a:cs typeface="微软雅黑"/>
              </a:rPr>
              <a:t>L1 现场总线　FB-1 仪表段 / FB-2 VFD 专用段（RS-485，另留 4–20 mA 硬线备份给定，总线失效不失控）　　L0 现场设备　FT / TT / PT / LT / 露点 · 漏液 LD-201…205 + OEM Tray / Rack 干接点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19472"/>
            <a:ext cx="11057839" cy="713232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 w="254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020056"/>
            <a:ext cx="10618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设计红线：严禁把应用软件作为漏液的唯一切断手段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安全链动作直接撤销泵与阀使能 —— 经 VFD 的 STO 输入 + 主接触器双断，绕过 PLC 与应用软件；主控死机、程序异常或通信中断时仍能独立动作。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漏液响应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漏液分三级，只有第一级允许交给软件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3527450" cy="210312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3527450" cy="6858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56815"/>
            <a:ext cx="316169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一级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慢漏 / 可疑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软件告警 + 定位 + 提高采样频率 + 限制补液 + 请求业务迁移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执行路径：应用软件 ASW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2122" y="1737360"/>
            <a:ext cx="3527450" cy="210312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2122" y="1737360"/>
            <a:ext cx="3527450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5002" y="1956815"/>
            <a:ext cx="316169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二级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严重漏液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立即撤销泵 / 阀使能。传感器响应 &lt;5 s，端到端目标 ≤200 ms（待实测）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执行路径：硬接线安全链，绕过软件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737360"/>
            <a:ext cx="3527450" cy="210312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737360"/>
            <a:ext cx="3527450" cy="6858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0196" y="1956815"/>
            <a:ext cx="3161690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三级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外部急停 / OEM Tray、Rack 硬触点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双通道安全回路动作，失电即安全侧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执行路径：双通道 + 强制导向触点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59935"/>
            <a:ext cx="11057839" cy="597408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059935"/>
            <a:ext cx="59436" cy="59740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160520"/>
            <a:ext cx="10673791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复位必须人工授权，四个条件全满足才允许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修复完成、干燥、保压合格、漏液回路测试通过 —— 任何一项没做完都不得复位。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03648"/>
            <a:ext cx="11057839" cy="597408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803648"/>
            <a:ext cx="59436" cy="59740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904232"/>
            <a:ext cx="10673791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联锁演练必须真实注水，不得只做信号短接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短接只验证了电路，没有验证传感器布置是否覆盖真实泄漏路径。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47360"/>
            <a:ext cx="11057839" cy="597408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547360"/>
            <a:ext cx="59436" cy="597408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647944"/>
            <a:ext cx="10673791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凝露误报要与真实漏液分开：供液温度建议 ≥露点 + 3 K，硬限 ≥露点 + 2 K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按 LD-201…205 分区定位，结合露点裕量与趋势判别；接液盘凝水单独处理。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时间预算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90 秒的窗口要落成一组能实测的秒级指标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73352"/>
            <a:ext cx="2586151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≤200</a:t>
            </a:r>
            <a:r>
              <a:rPr sz="16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 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严重漏液到执行器失能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端到端目标，架构已冻结、时间待实测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823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823" y="1673352"/>
            <a:ext cx="2586151" cy="6858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7127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≤15</a:t>
            </a:r>
            <a:r>
              <a:rPr sz="16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 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7127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单泵 A→B 重叠切换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硬限 30 s，禁止先停后启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4719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4719" y="1673352"/>
            <a:ext cx="2586151" cy="6858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1023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≤30</a:t>
            </a:r>
            <a:r>
              <a:rPr sz="16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 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整机 N+1 群控切换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硬限 60 s，待 FAT 验证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615" y="1673352"/>
            <a:ext cx="2586151" cy="201168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8615" y="1673352"/>
            <a:ext cx="2586151" cy="6858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4919" y="2057400"/>
            <a:ext cx="22935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30</a:t>
            </a:r>
            <a:r>
              <a:rPr sz="16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 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4919" y="2862072"/>
            <a:ext cx="229354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BMS 心跳丢失转本地自治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通信中断不停冷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904488"/>
            <a:ext cx="11057839" cy="649223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904488"/>
            <a:ext cx="59436" cy="649223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005072"/>
            <a:ext cx="10673791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泵切换 15 s 与失冷窗口 30–60 s 之间只有 2–4 倍余量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这就是为什么切换必须重叠进行，且不能依赖上位系统仲裁。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700016"/>
            <a:ext cx="11057839" cy="649223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700016"/>
            <a:ext cx="59436" cy="649223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800600"/>
            <a:ext cx="10673791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供液超温 60 s 内完成联动：TCV 全开 + 泵提速 + 一次侧加速 + 请求 IT 降载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降载请求 30 s 未确认则升级告警；主控任务周期 ≤20 ms，安全监视 ≤10 ms，SOE 分辨率 ≤1 ms。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495544"/>
            <a:ext cx="11057839" cy="649223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495544"/>
            <a:ext cx="59436" cy="649223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596128"/>
            <a:ext cx="10673791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FAT 稳态温控判据 ±0.5 ℃，负荷点 0 / 25 / 50 / 75 / 100%；SAT 连续 72 h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泵切换、断电续冷、漏液联锁、传感器故障、通信中断五项必须全部通过。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通信与接口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一个需要向上游反馈的发现：NVIDIA 运维侧其实是 MQTT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11057839" cy="70591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59436" cy="70591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19656"/>
            <a:ext cx="10673791" cy="541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必选三通道：Modbus TCP 171 点、SNMPv3 145 遥测、MQTT over TLS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Modbus 点表构成为 67 输入寄存器 + 70 离散输入 + 24 保持寄存器 + 10 线圈。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71292"/>
            <a:ext cx="11057839" cy="70591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571292"/>
            <a:ext cx="59436" cy="705916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671876"/>
            <a:ext cx="10673791" cy="541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选配：BACnet/IP 175 对象、OPC UA 171 Variable、Redfish over HTTPS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与 Modbus 同源映射；NVIDIA RA 要求 BMC 支持 Redfish 1.4 或以上。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3513"/>
            <a:ext cx="11057839" cy="70591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423513"/>
            <a:ext cx="59436" cy="705916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524097"/>
            <a:ext cx="10673791" cy="541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NVIDIA 运维侧实际走 MQTT（BCM broker），IT 侧才是 Redfish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Modbus 与 SNMP 并非 NVIDIA 官方 CDU 接口，需经网关转译。要接入 Mission Control 生态，网关的 MQTT 能力是必需项。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75734"/>
            <a:ext cx="11057839" cy="70591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75734"/>
            <a:ext cx="59436" cy="705916"/>
          </a:xfrm>
          <a:prstGeom prst="rect">
            <a:avLst/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376318"/>
            <a:ext cx="10673791" cy="541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Modbus TCP 与 BACnet/IP 本身无认证与加密，这是协议固有限制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靠网络分区、白名单与只读化补偿，并须在项目安全方案中书面说明。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27955"/>
            <a:ext cx="11057839" cy="70591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127955"/>
            <a:ext cx="59436" cy="70591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228539"/>
            <a:ext cx="10673791" cy="5413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ETH-BMS 与 ETH-IT 物理分离，网关不做二层桥接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刷新率要求：快变量 ≤1 s、常规 ≤5 s、告警变化即报 ≤1 s；协议一致性与互操作测试报告随机交付。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供电基线：双路 400/230 VAC 3P+N+PE，经 PSU-201A/B 各 24 VDC / 20 A 至 ORing 冗余母线，任一路失电不停机、不重启；柜体 IP54、HMI 前面板 IP65。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成本边界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柜内 BOM 与柜外设施热管理是两张表，不能混加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02_cost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64" y="1645920"/>
            <a:ext cx="11013966" cy="41513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互相印证：Morgan Stanley 的托盘冷却 49,860 美元与 Bernstein 的柜内液冷 5.1 万美元高度吻合。Bernstein 的 21.1 万美元属于柜外设施热管理表，不包含 5.1 万；13 亿美元/GW 与 1,249 $/kW 只作换算校验。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L2 构成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议价重点是冷板和快接头，不是 CDU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03_l2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48642"/>
            <a:ext cx="5623560" cy="40751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9944" y="1627632"/>
            <a:ext cx="5214823" cy="1019555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9944" y="1627632"/>
            <a:ext cx="5214823" cy="5029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801368"/>
            <a:ext cx="4922215" cy="7635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冷板 $40,700 —— $2,260/盘 × 18 盘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GB300 相对 GB200 从 $37,800 升到 $40,700。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2793491"/>
            <a:ext cx="5214823" cy="1019555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9944" y="2793491"/>
            <a:ext cx="5214823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967227"/>
            <a:ext cx="4922215" cy="7635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UQD $22,000 —— 单价腰斩，总量翻倍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用量约 252 对；单只从 $70–80 降到 $40–50，但总额从 $12,000 涨到 $22,000。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9944" y="3959351"/>
            <a:ext cx="5214823" cy="1019555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9944" y="3959351"/>
            <a:ext cx="5214823" cy="50292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4133087"/>
            <a:ext cx="4922215" cy="7635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专用方案会让这个结论翻转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共享时 CDU 分摊 $1.5–2.2 万，专用 1+1 约 $5.6–10 万/柜 —— CDU 反而成为最大单项。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9944" y="5125212"/>
            <a:ext cx="5214823" cy="1019555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9944" y="5125212"/>
            <a:ext cx="5214823" cy="50292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5298948"/>
            <a:ext cx="4922215" cy="7635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按 1 MW 折算，专用比共享贵 3–5 倍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买的是单柜级整机 N+1 与故障域隔离，不是成本最优。这个取舍要写进立项文件。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Bernstein 两表口径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5.1 万柜内 BOM 不包含在 21.1 万柜外设施热管理内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04_l3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414" y="1645920"/>
            <a:ext cx="7654866" cy="21762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3986784"/>
            <a:ext cx="11057839" cy="621791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986784"/>
            <a:ext cx="59436" cy="621791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4087368"/>
            <a:ext cx="10673791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柜外设施热管理 21.1 万 = 设施级风冷 11.0 + 柜外液冷 4.4 + 配套基础设施 5.7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三项同属 Bernstein 设施热管理表；4.4 万覆盖柜外液冷设施，不等同于本项目专用 CDU 报价。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54880"/>
            <a:ext cx="11057839" cy="621791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54880"/>
            <a:ext cx="59436" cy="621791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855464"/>
            <a:ext cx="10673791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5.1 万来自另一张机柜 BOM 表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它可与 Morgan Stanley 49,860 美元交叉验证，但不包含在 21.1 万内；若跨表相加为 26.2 万，必须明确标注“作者跨表加总”。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522976"/>
            <a:ext cx="11057839" cy="621791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522976"/>
            <a:ext cx="59436" cy="621791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5623560"/>
            <a:ext cx="10673791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换算值不是拆分来源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13 亿美元/GW 与 1,249 $/kW 只校验 21.1 万的量级；11.0 万不是本项目 25 kW 残余风冷成本。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双市场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国内和海外是两套价格体系，不是同一商品的折扣关系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73936"/>
          <a:ext cx="11057837" cy="32186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19129"/>
                <a:gridCol w="2467451"/>
                <a:gridCol w="2467451"/>
                <a:gridCol w="4203806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国内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海外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价差买到了什么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</a:tr>
              <a:tr h="552297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二次侧工程包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3,000–5,000 元/kW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高出 50%–100%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CDU 约占二次侧一半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552297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CDU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1,000–1,100 元/kW
200 kW 机约 20–22 万元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200–240 $/kW
单机 $40,000–48,000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海外溢价约 40%–70%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</a:tr>
              <a:tr h="552297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认证快接头 UQD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600 元/对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1,300 元/对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量产成本仅 30–50 元/只，认证溢价是主要成分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552297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整柜液冷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5,000–8,000 元/kW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8,000–12,000 元/kW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认证名录、现场数据积累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</a:tr>
              <a:tr h="552297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L2 专用 2×200 kW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82–104 万元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$151k–189k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漏液责任承担一并转移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82–104 万元不是 15.1–18.9 万美元的汇率换算结果，两者是两套独立的市场报价。因此不能简单以「国产替代可省 40%」作结论 —— 责任边界一起换了人。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五年展望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国内 CDU 五年降三成，海外认证件只降一成七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06_price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4205"/>
            <a:ext cx="11057839" cy="40748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本项目 CDU 产品自身的经济性为概念级（置信度 C−，不可用于合同保证）：外采 BOM 目标 18.40 万元、COGS 29.40 万元/台、建议售价 39.8 / 34.8 / 30.8 万元。冗余乘数 1.8–2.0× 与认证乘数 1.3–2.0× 是液冷 CDU 定价的两个主导因子。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能力阶梯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200 kW 不是型号，是被市场空档定义出来的档位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05_capacity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77312"/>
            <a:ext cx="11057839" cy="38885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单柜液冷需求约 150 kW、峰值包络 155 kW，而 Vertiv 在 121 kW 与 450 kW 之间没有产品：121 kW 扛不住峰值，450 kW 严重浪费。真正覆盖此段的只有 CoolIT CHx200 与 Supermicro 柜内 250 kW。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竞品矩阵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同一个 600 kW，4 ℃ 端温差和 8 ℃ 端温差不是同一台机器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73936"/>
          <a:ext cx="11057837" cy="404164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7741"/>
                <a:gridCol w="2833000"/>
                <a:gridCol w="2376064"/>
                <a:gridCol w="4021032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厂商 / 系列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代表冷量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冗余与控制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 GB300 单柜的适配判断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Vertiv CoolChip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L2A 70；L2L 30 / 121 / 450 / 600 / 1350 / 2300 kW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双泵（1350 三泵）±1 ℃
Modbus · 50/25 μm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121 偏紧、450 浪费；70 是 L2A，不能作生产基线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CoolIT CHx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CHx200：200 kW / 4U
CHx2000：2000 kW @ 5 ℃ ATD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N+1 热插拔 · 25 μm
群控 20 台 · Redfish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与本项目同档；「单台带 12 柜」仍须按 N+1 重算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Schneider + Motivair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RD110 参考设计 142 kW/柜
MCDU-70 单台 2.5 MW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CDU N+1；冷却 UPS 2N
续航 5 min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强在工厂参考设计与超大颗粒，不补单柜空档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华为 FusionCol600-L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L450MA：450 / 360 kW
二次 40/50、一次 37/45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双泵轮巡 / 加减载
iCooling 不直控物理设备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二次侧常用乙二醇，与 DI / PG25 不是一张表，只作对照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nVent RackChiller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CDU100：100 kW @ 6 K
CDU800：800 kW @ 4 K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N+1 泵电
SNMPv3 / Modbus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 kW 不够单柜 150；800 kW 走多柜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Supermicro / LITEON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柜内 250 kW；行级 1.8 MW
LITEON 侧车约 140 kW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柜内泵 N+1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柜内 250 是另一条技术路线；侧车 140 kW 扛不住 155 峰值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英维克 / 申菱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英维克 80 kW / 4U
申菱 200–1800 kW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全变频泵 · 冗余泵
漏液 · 自动补液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 kW 不够；申菱宣称支持柜功率 ≤140 kW，须核端温差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招标必须锁死七项：工质、四温（TCS 供回 + FWS 供回）、两侧流量、压降、过滤精度、泵冗余、群控台数。只写「600 kW」的招标条款没有约束力。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场景选型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选型先看场景，再看铭牌 —— 四类场景四种答案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190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59436" cy="76809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196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实验室 / 风改液 / 无一次水　→　L2A 列间或侧车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Vertiv 70、Supermicro 与 LITEON 侧车。不要做的事：用 L2A 承诺 GB300 满配训练。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334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33472"/>
            <a:ext cx="59436" cy="768096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7340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单柜或 1+1 生产柜（本项目）　→　200–250 kW L2L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CoolIT CHx200、Supermicro 柜内 250；Vertiv 无此 SKU。不要做的事：用 121 kW 硬扛 155 kW 峰值。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478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547872"/>
            <a:ext cx="59436" cy="768096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6484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单列 2–4 柜　→　450–800 kW 列间 N+1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Vertiv 450/600、nVent 800、华为 450。不要做的事：一台 450 带 4 柜且不配备机。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4622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462272"/>
            <a:ext cx="59436" cy="768096"/>
          </a:xfrm>
          <a:prstGeom prst="rect">
            <a:avLst/>
          </a:prstGeom>
          <a:solidFill>
            <a:srgbClr val="174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5628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SuperPOD SU 约 8 柜　→　1.3–2.5 MW 行级 / 周边 + 群控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Vertiv 1350/2300、CoolIT 1500/2000、Motivair 2.5 MW。不要做的事：用宣传「1 台带 8 柜」替代 N+1 计算。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376672"/>
            <a:ext cx="11057839" cy="768096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376672"/>
            <a:ext cx="59436" cy="76809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477256"/>
            <a:ext cx="1067379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4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国内设计院出图　→　上述硬件 + GB 50174 A 级 + GB/T 48023 + YD/T 6358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支路均流 ≤10%、换热 95% 是国内合规底线。不要做的事：只贴 NVIDIA / ASHRAE 的英文页。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风险登记册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十二条风险，三条是高 —— 而且都指向同一个源头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10_ris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97" y="1645920"/>
            <a:ext cx="10650099" cy="41513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R1 接液件耐温、R3 三重限幅无限值、R5 低温入口点不可行、R6 泵余压口径混淆，是本次横向比对新识别或强化的四项。缓解措施已逐条落到行动清单。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37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冻结状态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27 条 CDU 接口定了 16 条，剩下的 11 条卡住了采购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7393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CDU 侧 ICD 共 27 条（机械 9 / 电气 5 / 控制 7 / 通信 6）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48255"/>
            <a:ext cx="6552793" cy="310896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19721" y="2048255"/>
            <a:ext cx="4505045" cy="310896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03120"/>
            <a:ext cx="655279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 条已冻结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9721" y="2103120"/>
            <a:ext cx="450504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 条待冻结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560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电控专项 ICD 共 31 条　·　电控需求 71 条中 52 条已冻结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834639"/>
            <a:ext cx="6420680" cy="310896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87608" y="2834639"/>
            <a:ext cx="4637158" cy="310896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889503"/>
            <a:ext cx="6420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18 条已冻结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7608" y="2889503"/>
            <a:ext cx="46371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 条待冻结（含 4 条阻塞 · 电控 ICD 口径）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47472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制造 / FAT 前必须关闭的阻塞项（CDU 侧与电控侧合并列示）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785615"/>
            <a:ext cx="2065263" cy="1389888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 w="190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913631"/>
            <a:ext cx="1845807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M-01 / M-02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TCS 供回机械接口</a:t>
            </a:r>
          </a:p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未关闭不得下达板换与泵采购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15071" y="3785615"/>
            <a:ext cx="2065263" cy="1389888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 w="190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4799" y="3913631"/>
            <a:ext cx="1845807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M-04 / M-05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最大允许绝压 · UQD</a:t>
            </a:r>
          </a:p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直接卡住三重限幅的具体限值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63215" y="3785615"/>
            <a:ext cx="2065263" cy="1389888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 w="190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2943" y="3913631"/>
            <a:ext cx="1845807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C-02 / EC-C-02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漏液信号电气形式</a:t>
            </a:r>
          </a:p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干接点还是总线，决定安全链接线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1359" y="3785615"/>
            <a:ext cx="2065263" cy="1389888"/>
          </a:xfrm>
          <a:prstGeom prst="roundRect">
            <a:avLst>
              <a:gd name="adj" fmla="val 8000"/>
            </a:avLst>
          </a:prstGeom>
          <a:solidFill>
            <a:srgbClr val="FDE8E6"/>
          </a:solidFill>
          <a:ln w="190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1087" y="3913631"/>
            <a:ext cx="1845807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C-06 / N-02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功率封顶请求协议</a:t>
            </a:r>
          </a:p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依赖 NVIDIA / OEM 受控接口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9503" y="3785615"/>
            <a:ext cx="2065263" cy="1389888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9050">
            <a:solidFill>
              <a:srgbClr val="A65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69231" y="3913631"/>
            <a:ext cx="1845807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CR-S-07 / CR-E-04…06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TCV 失效位 · 认证范围</a:t>
            </a:r>
          </a:p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依赖 HAZOP 与目标市场确定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3035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硬性约束：阻塞项未关闭前，不得下达板换与泵的最终采购、不得下达控制器最终硬件采购、不得连接正式 GB300 机柜。功能安全口径为「SIL-informed, not SIL-certified」，主路径推荐 ISO 13849 PL，由 HAZOP + LOPA 定级。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77900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按电控需求口径统计为 5 项，多出的 CR-E-04…06 认证范围属需求级条目，不计入 ICD。引用时须标明口径。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成熟度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六个维度已经站得住，只有接口冻结停在「低」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07_mat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0758"/>
            <a:ext cx="11057839" cy="39816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结论：设计侧已基本收敛，项目进度实际取决于 OEM 接口澄清的速度，而不取决于还能不能算得更细。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行动清单 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三件事并行推进，全部关闭才能进入采购与联机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3515258" cy="3931920"/>
          </a:xfrm>
          <a:prstGeom prst="roundRect">
            <a:avLst>
              <a:gd name="adj" fmla="val 5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55648"/>
            <a:ext cx="3515258" cy="8229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31494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① 向订单 OEM 澄清四个机械口径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98063"/>
            <a:ext cx="1600200" cy="292608"/>
          </a:xfrm>
          <a:prstGeom prst="roundRect">
            <a:avLst>
              <a:gd name="adj" fmla="val 35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43784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商务 + OEM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36976"/>
            <a:ext cx="314949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· 机柜入口最大允许绝压（M-04）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· UQD 的 Cv 与数量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· 顶进水还是底进水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· 满配湿重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846320"/>
            <a:ext cx="3222650" cy="658368"/>
          </a:xfrm>
          <a:prstGeom prst="roundRect">
            <a:avLst>
              <a:gd name="adj" fmla="val 10000"/>
            </a:avLst>
          </a:prstGeom>
          <a:solidFill>
            <a:srgbClr val="E6F6F2"/>
          </a:solidFill>
          <a:ln w="12700">
            <a:solidFill>
              <a:srgbClr val="A8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956048"/>
            <a:ext cx="296661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关闭标志：M-01 / M-02 / M-04 / M-05 转为已冻结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8218" y="1755648"/>
            <a:ext cx="3515258" cy="3931920"/>
          </a:xfrm>
          <a:prstGeom prst="roundRect">
            <a:avLst>
              <a:gd name="adj" fmla="val 5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8218" y="1755648"/>
            <a:ext cx="3515258" cy="8229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1098" y="2011680"/>
            <a:ext cx="31494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② 确认漏液信号的电气形式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1098" y="2798063"/>
            <a:ext cx="1600200" cy="292608"/>
          </a:xfrm>
          <a:prstGeom prst="roundRect">
            <a:avLst>
              <a:gd name="adj" fmla="val 35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1098" y="2843784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商务 + OEM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3236976"/>
            <a:ext cx="314949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· Tray 级与 Rack 级信号是干接点还是总线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· 触点常开还是常闭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· 信号响应时间（C-02）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4522" y="4846320"/>
            <a:ext cx="3222650" cy="658368"/>
          </a:xfrm>
          <a:prstGeom prst="roundRect">
            <a:avLst>
              <a:gd name="adj" fmla="val 10000"/>
            </a:avLst>
          </a:prstGeom>
          <a:solidFill>
            <a:srgbClr val="E6F6F2"/>
          </a:solidFill>
          <a:ln w="12700">
            <a:solidFill>
              <a:srgbClr val="A8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2538" y="4956048"/>
            <a:ext cx="296661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关闭标志：安全链接线方案定稿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9508" y="1755648"/>
            <a:ext cx="3515258" cy="3931920"/>
          </a:xfrm>
          <a:prstGeom prst="roundRect">
            <a:avLst>
              <a:gd name="adj" fmla="val 5000"/>
            </a:avLst>
          </a:prstGeom>
          <a:solidFill>
            <a:srgbClr val="F6F9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9508" y="1755648"/>
            <a:ext cx="3515258" cy="8229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2388" y="2011680"/>
            <a:ext cx="31494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③ 解决接液件耐温临界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92388" y="2798063"/>
            <a:ext cx="1600200" cy="292608"/>
          </a:xfrm>
          <a:prstGeom prst="roundRect">
            <a:avLst>
              <a:gd name="adj" fmla="val 35000"/>
            </a:avLst>
          </a:prstGeom>
          <a:solidFill>
            <a:srgbClr val="FD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2388" y="2843784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2318"/>
                </a:solidFill>
                <a:latin typeface="微软雅黑"/>
                <a:ea typeface="微软雅黑"/>
                <a:cs typeface="微软雅黑"/>
              </a:rPr>
              <a:t>设计 + OEM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2388" y="3236976"/>
            <a:ext cx="314949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· 把泵 / 垫片 / 板换规格提到 ≥65 ℃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· 或取得各入口温度点的实际同时负荷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82536"/>
                </a:solidFill>
                <a:latin typeface="微软雅黑"/>
                <a:ea typeface="微软雅黑"/>
                <a:cs typeface="微软雅黑"/>
              </a:rPr>
              <a:t>· 回液 56–62 ℃ vs 现规格 60 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55812" y="4846320"/>
            <a:ext cx="3222650" cy="658368"/>
          </a:xfrm>
          <a:prstGeom prst="roundRect">
            <a:avLst>
              <a:gd name="adj" fmla="val 10000"/>
            </a:avLst>
          </a:prstGeom>
          <a:solidFill>
            <a:srgbClr val="E6F6F2"/>
          </a:solidFill>
          <a:ln w="12700">
            <a:solidFill>
              <a:srgbClr val="A8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3828" y="4956048"/>
            <a:ext cx="296661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8B7A"/>
                </a:solidFill>
                <a:latin typeface="微软雅黑"/>
                <a:ea typeface="微软雅黑"/>
                <a:cs typeface="微软雅黑"/>
              </a:rPr>
              <a:t>关闭标志：板换与泵可下达最终采购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P0 三项互相独立，可并行推进。真正的瓶颈不是设计算得够不够细，而是这些信息拿到手的速度。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72784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642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07086"/>
                </a:solidFill>
                <a:latin typeface="微软雅黑"/>
                <a:ea typeface="微软雅黑"/>
                <a:cs typeface="微软雅黑"/>
              </a:rPr>
              <a:t>GB300 NVL72 液冷系统综合汇报 v1.0 · 2026-09-05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5967" y="63642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0624"/>
            <a:ext cx="68580" cy="822960"/>
          </a:xfrm>
          <a:prstGeom prst="rect">
            <a:avLst/>
          </a:prstGeom>
          <a:solidFill>
            <a:srgbClr val="A6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02336"/>
            <a:ext cx="10783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5B00"/>
                </a:solidFill>
                <a:latin typeface="微软雅黑"/>
                <a:ea typeface="微软雅黑"/>
                <a:cs typeface="微软雅黑"/>
              </a:rPr>
              <a:t>行动清单 P1–P3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76656"/>
            <a:ext cx="1078351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2748"/>
                </a:solidFill>
                <a:latin typeface="微软雅黑"/>
                <a:ea typeface="微软雅黑"/>
                <a:cs typeface="微软雅黑"/>
              </a:rPr>
              <a:t>P0 之后的八件事：把水力、安全、商务三条线分别收口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08176"/>
            <a:ext cx="11057839" cy="10972"/>
          </a:xfrm>
          <a:prstGeom prst="rect">
            <a:avLst/>
          </a:prstGeom>
          <a:solidFill>
            <a:srgbClr val="D7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73936"/>
          <a:ext cx="11057837" cy="43708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07701"/>
                <a:gridCol w="5661613"/>
                <a:gridCol w="1680791"/>
                <a:gridCol w="3007732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优先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责任面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关闭标志</a:t>
                      </a:r>
                    </a:p>
                  </a:txBody>
                  <a:tcPr anchor="ctr" marL="82296" marR="82296">
                    <a:solidFill>
                      <a:srgbClr val="0B2748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A65B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 HAZOP / LOPA，确定 TCV-101 失效位与安全链定级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 + 安全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CR-S-07 关闭，SIL 论证归档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A65B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板换厂家按 FAT-B（3 K / UA ≥66.7）复核选型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供应链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 水与 PG25 分别出具选型书 + 压降校核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A65B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泵水力闭合：扣除 CDU 内部损失，单独冻结机外可用余压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水力计算书签署，含关死点与 NPSH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A65B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FWS 温度分段重写工况表，声明各段可达的入口温度点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工况表 v2 发布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确定目标市场与认证范围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商务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认证清单冻结，控制器硬件可下单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冻结通信协议范围，安排一致性与互操作测试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电控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协议清单 + 测试计划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向 Vertiv / CoolIT / 华为索取授权数据表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市场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对标报告待补项关闭</a:t>
                      </a:r>
                    </a:p>
                  </a:txBody>
                  <a:tcPr anchor="ctr" marL="82296" marR="82296" marT="36576" marB="36576">
                    <a:solidFill>
                      <a:srgbClr val="FFFFFF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P3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编制招标技术条款模板，锁定七项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商务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825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模板评审通过</a:t>
                      </a:r>
                    </a:p>
                  </a:txBody>
                  <a:tcPr anchor="ctr" marL="82296" marR="82296" marT="36576" marB="36576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FB6E6"/>
                </a:solidFill>
                <a:latin typeface="微软雅黑"/>
                <a:ea typeface="微软雅黑"/>
                <a:cs typeface="微软雅黑"/>
              </a:rPr>
              <a:t>结论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25296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技术方案已经站得住，制约不在设计能力，
而在 OEM 接口信息的获取速度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542032"/>
            <a:ext cx="1280160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798064"/>
            <a:ext cx="3340607" cy="1060704"/>
          </a:xfrm>
          <a:prstGeom prst="roundRect">
            <a:avLst>
              <a:gd name="adj" fmla="val 8000"/>
            </a:avLst>
          </a:prstGeom>
          <a:solidFill>
            <a:srgbClr val="14355C"/>
          </a:solidFill>
          <a:ln w="12700">
            <a:solidFill>
              <a:srgbClr val="2E5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62656"/>
            <a:ext cx="2974847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ED8C4"/>
                </a:solidFill>
                <a:latin typeface="微软雅黑"/>
                <a:ea typeface="微软雅黑"/>
                <a:cs typeface="微软雅黑"/>
              </a:rPr>
              <a:t>方案有对标依据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2×200 kW L2L + 整机 N+1，正好填补 121–450 kW 的行级空档。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8744" y="2798064"/>
            <a:ext cx="3340607" cy="1060704"/>
          </a:xfrm>
          <a:prstGeom prst="roundRect">
            <a:avLst>
              <a:gd name="adj" fmla="val 8000"/>
            </a:avLst>
          </a:prstGeom>
          <a:solidFill>
            <a:srgbClr val="14355C"/>
          </a:solidFill>
          <a:ln w="12700">
            <a:solidFill>
              <a:srgbClr val="2E5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1624" y="2962656"/>
            <a:ext cx="2974847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ED8C4"/>
                </a:solidFill>
                <a:latin typeface="微软雅黑"/>
                <a:ea typeface="微软雅黑"/>
                <a:cs typeface="微软雅黑"/>
              </a:rPr>
              <a:t>数据有一手支撑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热工水力以 Lenovo Table 27 逐点校核为准，安全架构把切断动作独立于软件。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8807" y="2798064"/>
            <a:ext cx="3340607" cy="1060704"/>
          </a:xfrm>
          <a:prstGeom prst="roundRect">
            <a:avLst>
              <a:gd name="adj" fmla="val 8000"/>
            </a:avLst>
          </a:prstGeom>
          <a:solidFill>
            <a:srgbClr val="14355C"/>
          </a:solidFill>
          <a:ln w="12700">
            <a:solidFill>
              <a:srgbClr val="2E5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1687" y="2962656"/>
            <a:ext cx="2974847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ED8C4"/>
                </a:solidFill>
                <a:latin typeface="微软雅黑"/>
                <a:ea typeface="微软雅黑"/>
                <a:cs typeface="微软雅黑"/>
              </a:rPr>
              <a:t>建议的资源转向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从「继续算得更细」转向「把 11 条 ICD 谈下来」，三项 P0 并行推进。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96512"/>
            <a:ext cx="10460736" cy="1700784"/>
          </a:xfrm>
          <a:prstGeom prst="roundRect">
            <a:avLst>
              <a:gd name="adj" fmla="val 5000"/>
            </a:avLst>
          </a:prstGeom>
          <a:solidFill>
            <a:srgbClr val="102E50"/>
          </a:solidFill>
          <a:ln w="12700">
            <a:solidFill>
              <a:srgbClr val="2E5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261104"/>
            <a:ext cx="100584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C77A"/>
                </a:solidFill>
                <a:latin typeface="微软雅黑"/>
                <a:ea typeface="微软雅黑"/>
                <a:cs typeface="微软雅黑"/>
              </a:rPr>
              <a:t>使用限制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· 本材料为综合与决策用途，不替代源报告的工程效力，也不替代 OEM 受控文件、厂家选型单与 ICD。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· 所有数字均绑定其口径与分母，不得跨口径相加或横向比价。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· 水力保证点以订单 OEM 的温度—流量—压降表为唯一依据。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D7E6F5"/>
                </a:solidFill>
                <a:latin typeface="微软雅黑"/>
                <a:ea typeface="微软雅黑"/>
                <a:cs typeface="微软雅黑"/>
              </a:rPr>
              <a:t>· 标注「待冻结 / 待实测 / 概念级」的条目不得写入合同。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272784"/>
            <a:ext cx="104607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EA3CC"/>
                </a:solidFill>
                <a:latin typeface="微软雅黑"/>
                <a:ea typeface="微软雅黑"/>
                <a:cs typeface="微软雅黑"/>
              </a:rPr>
              <a:t>GB300 NVL72 液冷系统综合汇报 v1.0 · 2026-09-05　·　文档编号 AIDC-LC-TOTAL-001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