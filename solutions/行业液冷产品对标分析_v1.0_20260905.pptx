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97280"/>
            <a:ext cx="10972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BC4E8"/>
                </a:solidFill>
                <a:latin typeface="Microsoft YaHei"/>
                <a:ea typeface="Microsoft YaHei"/>
              </a:rPr>
              <a:t>原图对标  ·  VERTIV AI READY + COOLCHIP CDU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508760"/>
            <a:ext cx="109728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行业液冷产品对标分析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8346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D7E6F5"/>
                </a:solidFill>
                <a:latin typeface="Microsoft YaHei"/>
                <a:ea typeface="Microsoft YaHei"/>
              </a:rPr>
              <a:t>以两份 2025-08-08 原文图为骨架：架构选择 · 实施关键 · 服务变革 · 产品族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703320"/>
            <a:ext cx="3703320" cy="1965960"/>
          </a:xfrm>
          <a:prstGeom prst="roundRect">
            <a:avLst>
              <a:gd name="adj" fmla="val 8000"/>
            </a:avLst>
          </a:prstGeom>
          <a:solidFill>
            <a:srgbClr val="143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i_ready_p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333" y="3767328"/>
            <a:ext cx="2223373" cy="15727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5349240"/>
            <a:ext cx="3703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9BC4E8"/>
                </a:solidFill>
                <a:latin typeface="Microsoft YaHei"/>
                <a:ea typeface="Microsoft YaHei"/>
              </a:rPr>
              <a:t>液冷底座  ·  17 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3703320"/>
            <a:ext cx="3703320" cy="1965960"/>
          </a:xfrm>
          <a:prstGeom prst="roundRect">
            <a:avLst>
              <a:gd name="adj" fmla="val 8000"/>
            </a:avLst>
          </a:prstGeom>
          <a:solidFill>
            <a:srgbClr val="143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oolchip_p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2554" y="3767328"/>
            <a:ext cx="2430770" cy="15727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26280" y="5349240"/>
            <a:ext cx="3703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9BC4E8"/>
                </a:solidFill>
                <a:latin typeface="Microsoft YaHei"/>
                <a:ea typeface="Microsoft YaHei"/>
              </a:rPr>
              <a:t>CoolChip 方案册  ·  8 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989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9BC4E8"/>
                </a:solidFill>
                <a:latin typeface="Microsoft YaHei"/>
                <a:ea typeface="Microsoft YaHei"/>
              </a:rPr>
              <a:t>v1.2  ·  2026-09-05  ·  原图已去铭牌  ·  含 2026 公开页刷新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45720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BC4E8"/>
                </a:solidFill>
                <a:latin typeface="Microsoft YaHei"/>
                <a:ea typeface="Microsoft YaHei"/>
              </a:rPr>
              <a:t>材料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92608"/>
            <a:ext cx="11430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两份原文都在：底座讲架构，方案册给产品照片与铭牌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01968"/>
            <a:ext cx="9692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D5E1EC"/>
                </a:solidFill>
                <a:latin typeface="Microsoft YaHei"/>
                <a:ea typeface="Microsoft YaHei"/>
              </a:rPr>
              <a:t>原图已去厂家铭牌/Logo  ·  底座 2025-08 + 方案册 2025-08 + 2026-09 公开页刷新  ·  对标解读，不替代选型单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D5E1EC"/>
                </a:solidFill>
                <a:latin typeface="Microsoft YaHei"/>
                <a:ea typeface="Microsoft YaHei"/>
              </a:rPr>
              <a:t>2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97280"/>
            <a:ext cx="5715000" cy="525780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i_ready_p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500" y="1234440"/>
            <a:ext cx="3684078" cy="2606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3931920"/>
            <a:ext cx="5349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B2748"/>
                </a:solidFill>
                <a:latin typeface="Microsoft YaHei"/>
                <a:ea typeface="Microsoft YaHei"/>
              </a:rPr>
              <a:t>材料 B  How to get AI ready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343400"/>
            <a:ext cx="53492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182536"/>
                </a:solidFill>
                <a:latin typeface="Microsoft YaHei"/>
                <a:ea typeface="Microsoft YaHei"/>
              </a:rPr>
              <a:t>•  17 页扫描幻灯，文字层为空，必须看图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182536"/>
                </a:solidFill>
                <a:latin typeface="Microsoft YaHei"/>
                <a:ea typeface="Microsoft YaHei"/>
              </a:rPr>
              <a:t>•  三条主线：架构选择 / 实施关键 / 服务变革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182536"/>
                </a:solidFill>
                <a:latin typeface="Microsoft YaHei"/>
                <a:ea typeface="Microsoft YaHei"/>
              </a:rPr>
              <a:t>•  含 7MW SuperPOD、90 秒失冷、Smart Run 原图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097280"/>
            <a:ext cx="5715000" cy="525780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oolchip_p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7275" y="1234440"/>
            <a:ext cx="4027729" cy="26060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46520" y="3931920"/>
            <a:ext cx="5349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B2748"/>
                </a:solidFill>
                <a:latin typeface="Microsoft YaHei"/>
                <a:ea typeface="Microsoft YaHei"/>
              </a:rPr>
              <a:t>材料 A  CoolChip CDU 方案册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343400"/>
            <a:ext cx="53492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182536"/>
                </a:solidFill>
                <a:latin typeface="Microsoft YaHei"/>
                <a:ea typeface="Microsoft YaHei"/>
              </a:rPr>
              <a:t>•  E-X6216519-0825，2025-08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182536"/>
                </a:solidFill>
                <a:latin typeface="Microsoft YaHei"/>
                <a:ea typeface="Microsoft YaHei"/>
              </a:rPr>
              <a:t>•  产品包照片：CDU / 机柜 / 歧管 / 环管 / 换液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182536"/>
                </a:solidFill>
                <a:latin typeface="Microsoft YaHei"/>
                <a:ea typeface="Microsoft YaHei"/>
              </a:rPr>
              <a:t>•  L2A 70 与 L2L 30–1350 铭牌可核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45720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BC4E8"/>
                </a:solidFill>
                <a:latin typeface="Microsoft YaHei"/>
                <a:ea typeface="Microsoft YaHei"/>
              </a:rPr>
              <a:t>原图解读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92608"/>
            <a:ext cx="11430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芯片与单柜功率正在按代际跳变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01968"/>
            <a:ext cx="9692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D5E1EC"/>
                </a:solidFill>
                <a:latin typeface="Microsoft YaHei"/>
                <a:ea typeface="Microsoft YaHei"/>
              </a:rPr>
              <a:t>原图已去厂家铭牌/Logo  ·  底座 2025-08 + 方案册 2025-08 + 2026-09 公开页刷新  ·  对标解读，不替代选型单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D5E1EC"/>
                </a:solidFill>
                <a:latin typeface="Microsoft YaHei"/>
                <a:ea typeface="Microsoft YaHei"/>
              </a:rPr>
              <a:t>3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" y="1060704"/>
            <a:ext cx="7818120" cy="5394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i_ready_p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87" y="1133856"/>
            <a:ext cx="7394009" cy="523036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229600" y="1060704"/>
            <a:ext cx="3675887" cy="539496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170432"/>
            <a:ext cx="34015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8B7A"/>
                </a:solidFill>
                <a:latin typeface="Microsoft YaHei"/>
                <a:ea typeface="Microsoft YaHei"/>
              </a:rPr>
              <a:t>读图要点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536192"/>
            <a:ext cx="3401568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左图：单芯片 TDP，A100≈400W → B200≈1000W → Feynman 宣称至 4400W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右图：单柜，H100≈41kW → GB200 NVL72 132kW → Rubin NVL144 200+kW → Ultra 600kW → Feynman 1000kW/柜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GB300 公开 142 / OEM 峰值 155，落在 132 与 200+ 之间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来源标注 Omdia / NVIDIA / SemiAnalysis，是趋势图不是订单保证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结论：风冷天花板已被甩开，底座必须按代际可升级来选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5806440"/>
            <a:ext cx="340156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07086"/>
                </a:solidFill>
                <a:latin typeface="Microsoft YaHei"/>
                <a:ea typeface="Microsoft YaHei"/>
              </a:rPr>
              <a:t>原图：液冷底座 p.2「芯片升级，散热如何变化？」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45720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BC4E8"/>
                </a:solidFill>
                <a:latin typeface="Microsoft YaHei"/>
                <a:ea typeface="Microsoft YaHei"/>
              </a:rPr>
              <a:t>原图解读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92608"/>
            <a:ext cx="11430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通用链路是 70/30，不要写成 GB300 口径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01968"/>
            <a:ext cx="9692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D5E1EC"/>
                </a:solidFill>
                <a:latin typeface="Microsoft YaHei"/>
                <a:ea typeface="Microsoft YaHei"/>
              </a:rPr>
              <a:t>原图已去厂家铭牌/Logo  ·  底座 2025-08 + 方案册 2025-08 + 2026-09 公开页刷新  ·  对标解读，不替代选型单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D5E1EC"/>
                </a:solidFill>
                <a:latin typeface="Microsoft YaHei"/>
                <a:ea typeface="Microsoft YaHei"/>
              </a:rPr>
              <a:t>4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" y="1060704"/>
            <a:ext cx="7818120" cy="5394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i_ready_p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87" y="1133856"/>
            <a:ext cx="7394009" cy="523036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229600" y="1060704"/>
            <a:ext cx="3675887" cy="539496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170432"/>
            <a:ext cx="34015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8B7A"/>
                </a:solidFill>
                <a:latin typeface="Microsoft YaHei"/>
                <a:ea typeface="Microsoft YaHei"/>
              </a:rPr>
              <a:t>读图要点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536192"/>
            <a:ext cx="3401568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这是维谛通用制冷链路：机柜 液冷 70% + 风冷 30%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机房：风侧房间/列间/背板/风墙；液侧液液 XDU 60–1350 kW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室外：高温走塔/干冷，低温走冷机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注意：这不是 GB300 OEM 的 90/10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后面 SuperPOD 案例又写成 72/28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三套液气比必须分层，禁止拼成一个保证点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5806440"/>
            <a:ext cx="340156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07086"/>
                </a:solidFill>
                <a:latin typeface="Microsoft YaHei"/>
                <a:ea typeface="Microsoft YaHei"/>
              </a:rPr>
              <a:t>原图：液冷底座 p.3「数据中心制冷链路」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45720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BC4E8"/>
                </a:solidFill>
                <a:latin typeface="Microsoft YaHei"/>
                <a:ea typeface="Microsoft YaHei"/>
              </a:rPr>
              <a:t>原图解读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92608"/>
            <a:ext cx="11430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架构选择的两个分叉：风液比，和高低温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01968"/>
            <a:ext cx="9692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D5E1EC"/>
                </a:solidFill>
                <a:latin typeface="Microsoft YaHei"/>
                <a:ea typeface="Microsoft YaHei"/>
              </a:rPr>
              <a:t>原图已去厂家铭牌/Logo  ·  底座 2025-08 + 方案册 2025-08 + 2026-09 公开页刷新  ·  对标解读，不替代选型单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D5E1EC"/>
                </a:solidFill>
                <a:latin typeface="Microsoft YaHei"/>
                <a:ea typeface="Microsoft YaHei"/>
              </a:rPr>
              <a:t>5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" y="1060704"/>
            <a:ext cx="7818120" cy="5394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i_ready_p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87" y="1133856"/>
            <a:ext cx="7394009" cy="523036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229600" y="1060704"/>
            <a:ext cx="3675887" cy="539496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170432"/>
            <a:ext cx="34015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8B7A"/>
                </a:solidFill>
                <a:latin typeface="Microsoft YaHei"/>
                <a:ea typeface="Microsoft YaHei"/>
              </a:rPr>
              <a:t>读图要点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536192"/>
            <a:ext cx="3401568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先问兼容性，再选路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风/液：看建设规模、服务器类型、风液比与水温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高温/低温：看冷源条件、架构形式、PUE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下一页把这两问展开成同源 / 非同源树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兼容性好 = 能从高温自然冷走到低温冷机，而不是锁死一种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5806440"/>
            <a:ext cx="340156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07086"/>
                </a:solidFill>
                <a:latin typeface="Microsoft YaHei"/>
                <a:ea typeface="Microsoft YaHei"/>
              </a:rPr>
              <a:t>原图：液冷底座 p.5「有没有兼容性好的制冷解决方案？」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45720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BC4E8"/>
                </a:solidFill>
                <a:latin typeface="Microsoft YaHei"/>
                <a:ea typeface="Microsoft YaHei"/>
              </a:rPr>
              <a:t>原图解读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92608"/>
            <a:ext cx="11430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同源四条路 + 非同源自由组合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01968"/>
            <a:ext cx="9692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D5E1EC"/>
                </a:solidFill>
                <a:latin typeface="Microsoft YaHei"/>
                <a:ea typeface="Microsoft YaHei"/>
              </a:rPr>
              <a:t>原图已去厂家铭牌/Logo  ·  底座 2025-08 + 方案册 2025-08 + 2026-09 公开页刷新  ·  对标解读，不替代选型单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D5E1EC"/>
                </a:solidFill>
                <a:latin typeface="Microsoft YaHei"/>
                <a:ea typeface="Microsoft YaHei"/>
              </a:rPr>
              <a:t>6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" y="1060704"/>
            <a:ext cx="7818120" cy="5394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i_ready_p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87" y="1133856"/>
            <a:ext cx="7394009" cy="523036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229600" y="1060704"/>
            <a:ext cx="3675887" cy="539496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170432"/>
            <a:ext cx="34015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8B7A"/>
                </a:solidFill>
                <a:latin typeface="Microsoft YaHei"/>
                <a:ea typeface="Microsoft YaHei"/>
              </a:rPr>
              <a:t>读图要点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536192"/>
            <a:ext cx="3401568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同源高温：干冷器或冷却塔 + 双冷源 + 液液 CDU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同源低温：冷机 20–28℃ 配冷冻水末端；30–38℃ 配水冷末端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另有氟液 CDU：风冷冷凝器 + 风机盘管，面向无水/缺水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非同源：风冷与液冷自由组合（方案册三拓扑与此对应）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GB300 生产基线走液液 CDU；氟液是另一产品线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5806440"/>
            <a:ext cx="340156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07086"/>
                </a:solidFill>
                <a:latin typeface="Microsoft YaHei"/>
                <a:ea typeface="Microsoft YaHei"/>
              </a:rPr>
              <a:t>原图：液冷底座 p.6「冷板液冷系统架构：设计」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45720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BC4E8"/>
                </a:solidFill>
                <a:latin typeface="Microsoft YaHei"/>
                <a:ea typeface="Microsoft YaHei"/>
              </a:rPr>
              <a:t>原图解读  ·  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92608"/>
            <a:ext cx="11430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高温自然冷是过去式；低温冷机与无水氟液是升级选项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01968"/>
            <a:ext cx="9692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D5E1EC"/>
                </a:solidFill>
                <a:latin typeface="Microsoft YaHei"/>
                <a:ea typeface="Microsoft YaHei"/>
              </a:rPr>
              <a:t>原图已去厂家铭牌/Logo  ·  底座 2025-08 + 方案册 2025-08 + 2026-09 公开页刷新  ·  对标解读，不替代选型单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D5E1EC"/>
                </a:solidFill>
                <a:latin typeface="Microsoft YaHei"/>
                <a:ea typeface="Microsoft YaHei"/>
              </a:rPr>
              <a:t>7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" y="1060704"/>
            <a:ext cx="580644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i_ready_p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34460"/>
            <a:ext cx="5660136" cy="400386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199632" y="1060704"/>
            <a:ext cx="5687568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i_ready_p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176504"/>
            <a:ext cx="5541263" cy="391977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256032" y="5321808"/>
            <a:ext cx="11631168" cy="1115568"/>
          </a:xfrm>
          <a:prstGeom prst="roundRect">
            <a:avLst>
              <a:gd name="adj" fmla="val 8000"/>
            </a:avLst>
          </a:prstGeom>
          <a:solidFill>
            <a:srgbClr val="FFF9E9"/>
          </a:solidFill>
          <a:ln>
            <a:solidFill>
              <a:srgbClr val="E3CA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5413248"/>
            <a:ext cx="11338560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82536"/>
                </a:solidFill>
                <a:latin typeface="Microsoft YaHei"/>
                <a:ea typeface="Microsoft YaHei"/>
              </a:rPr>
              <a:t>左图（p.7）：过去高水温干冷器/冷却塔 → 未来改冷机，并可在二次侧加小冷机。右图（p.8）：无水氟泵冷凝器 + 氟液 CDU，示例柜仅 37.5 kW（风 15 + 液 22.5），是中密兼容方案，不是 GB300 155 kW 生产柜。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45720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BC4E8"/>
                </a:solidFill>
                <a:latin typeface="Microsoft YaHei"/>
                <a:ea typeface="Microsoft YaHei"/>
              </a:rPr>
              <a:t>原图解读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92608"/>
            <a:ext cx="11430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实施关键①：五项设计输入，和 OEM 表不是同一层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01968"/>
            <a:ext cx="9692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D5E1EC"/>
                </a:solidFill>
                <a:latin typeface="Microsoft YaHei"/>
                <a:ea typeface="Microsoft YaHei"/>
              </a:rPr>
              <a:t>原图已去厂家铭牌/Logo  ·  底座 2025-08 + 方案册 2025-08 + 2026-09 公开页刷新  ·  对标解读，不替代选型单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D5E1EC"/>
                </a:solidFill>
                <a:latin typeface="Microsoft YaHei"/>
                <a:ea typeface="Microsoft YaHei"/>
              </a:rPr>
              <a:t>8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" y="1060704"/>
            <a:ext cx="7818120" cy="5394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i_ready_p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87" y="1133856"/>
            <a:ext cx="7394009" cy="523036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229600" y="1060704"/>
            <a:ext cx="3675887" cy="539496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170432"/>
            <a:ext cx="34015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8B7A"/>
                </a:solidFill>
                <a:latin typeface="Microsoft YaHei"/>
                <a:ea typeface="Microsoft YaHei"/>
              </a:rPr>
              <a:t>读图要点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536192"/>
            <a:ext cx="3401568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热管理链：芯片 → 机柜集热 → 列间集热 → 室外散热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维谛五项输入：过滤 &lt;50 μm；流体 25–45℃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比流量 1.0–1.5 L/min·kW；工质决定冲洗/检测/排气难度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故障维护强调预防与检测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对照 GB300：OEM 表 0.39–1.18 L/min·kW，禁止用 1.0–1.5 反代 Table 27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本项目过滤取严 25 μm，高于其 &lt;50 μm 门槛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5806440"/>
            <a:ext cx="340156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07086"/>
                </a:solidFill>
                <a:latin typeface="Microsoft YaHei"/>
                <a:ea typeface="Microsoft YaHei"/>
              </a:rPr>
              <a:t>原图：液冷底座 p.10「设计输入条件」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45720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BC4E8"/>
                </a:solidFill>
                <a:latin typeface="Microsoft YaHei"/>
                <a:ea typeface="Microsoft YaHei"/>
              </a:rPr>
              <a:t>原图解读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92608"/>
            <a:ext cx="11430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实施关键②：7 MW SuperPOD 用 XDU1350，液气 72/28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01968"/>
            <a:ext cx="9692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D5E1EC"/>
                </a:solidFill>
                <a:latin typeface="Microsoft YaHei"/>
                <a:ea typeface="Microsoft YaHei"/>
              </a:rPr>
              <a:t>原图已去厂家铭牌/Logo  ·  底座 2025-08 + 方案册 2025-08 + 2026-09 公开页刷新  ·  对标解读，不替代选型单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D5E1EC"/>
                </a:solidFill>
                <a:latin typeface="Microsoft YaHei"/>
                <a:ea typeface="Microsoft YaHei"/>
              </a:rPr>
              <a:t>9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" y="1060704"/>
            <a:ext cx="7818120" cy="5394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i_ready_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87" y="1133856"/>
            <a:ext cx="7394009" cy="523036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229600" y="1060704"/>
            <a:ext cx="3675887" cy="539496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170432"/>
            <a:ext cx="34015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8B7A"/>
                </a:solidFill>
                <a:latin typeface="Microsoft YaHei"/>
                <a:ea typeface="Microsoft YaHei"/>
              </a:rPr>
              <a:t>读图要点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536192"/>
            <a:ext cx="3401568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成熟方案：7 MW，6×1.2 MW Blackwell SuperPOD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每 POD 1152 kW；液冷 832 kW（72%）+ 风 320 kW（28%）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48 台 130 kW 算力柜 + 48 台 14 kW 配套柜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CDU：XDU1350；风侧 CW205；冷机 FH3135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电源架 33 kVA×8；冷却 UPS 240 kVA 2N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72/28 是这个参考设计，不是 70/30，更不是 GB300 90/10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5806440"/>
            <a:ext cx="340156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07086"/>
                </a:solidFill>
                <a:latin typeface="Microsoft YaHei"/>
                <a:ea typeface="Microsoft YaHei"/>
              </a:rPr>
              <a:t>原图：液冷底座 p.11「关注2：成熟的设计方案」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45720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BC4E8"/>
                </a:solidFill>
                <a:latin typeface="Microsoft YaHei"/>
                <a:ea typeface="Microsoft YaHei"/>
              </a:rPr>
              <a:t>原图解读  ·  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92608"/>
            <a:ext cx="11430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快速可靠交付：预制 Run 单元 + 1:1 FAT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01968"/>
            <a:ext cx="9692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D5E1EC"/>
                </a:solidFill>
                <a:latin typeface="Microsoft YaHei"/>
                <a:ea typeface="Microsoft YaHei"/>
              </a:rPr>
              <a:t>原图已去厂家铭牌/Logo  ·  底座 2025-08 + 方案册 2025-08 + 2026-09 公开页刷新  ·  对标解读，不替代选型单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D5E1EC"/>
                </a:solidFill>
                <a:latin typeface="Microsoft YaHei"/>
                <a:ea typeface="Microsoft YaHei"/>
              </a:rPr>
              <a:t>10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" y="1060704"/>
            <a:ext cx="580644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i_ready_p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95" y="1133855"/>
            <a:ext cx="5403313" cy="382219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199632" y="1060704"/>
            <a:ext cx="5687568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i_ready_p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1759" y="1133855"/>
            <a:ext cx="5403313" cy="3822191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256032" y="5138928"/>
            <a:ext cx="11631168" cy="1298448"/>
          </a:xfrm>
          <a:prstGeom prst="roundRect">
            <a:avLst>
              <a:gd name="adj" fmla="val 8000"/>
            </a:avLst>
          </a:prstGeom>
          <a:solidFill>
            <a:srgbClr val="EEF5FF"/>
          </a:solidFill>
          <a:ln>
            <a:solidFill>
              <a:srgbClr val="176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5230368"/>
            <a:ext cx="11338560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82536"/>
                </a:solidFill>
                <a:latin typeface="Microsoft YaHei"/>
                <a:ea typeface="Microsoft YaHei"/>
              </a:rPr>
              <a:t>p.12：结构模块 2400×2000 → 单元 3500×2000 → 48 英尺预制 Run，管/母线/光纤一次装完。p.13：Smart Run 一列 = 两端 CDU + 8 GPU 柜 + 网络柜；50 MW / 20 POD 宣称 80–120 天，对比行业平均 6 个月。评价维谛，交付速度与预制深度是产品族之外的第二竞争力。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45720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BC4E8"/>
                </a:solidFill>
                <a:latin typeface="Microsoft YaHei"/>
                <a:ea typeface="Microsoft YaHei"/>
              </a:rPr>
              <a:t>原图解读  ·  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92608"/>
            <a:ext cx="11430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厂验按 1:1 复制现场；失冷窗口按秒，不按 30 分钟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01968"/>
            <a:ext cx="9692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D5E1EC"/>
                </a:solidFill>
                <a:latin typeface="Microsoft YaHei"/>
                <a:ea typeface="Microsoft YaHei"/>
              </a:rPr>
              <a:t>原图已去厂家铭牌/Logo  ·  底座 2025-08 + 方案册 2025-08 + 2026-09 公开页刷新  ·  对标解读，不替代选型单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D5E1EC"/>
                </a:solidFill>
                <a:latin typeface="Microsoft YaHei"/>
                <a:ea typeface="Microsoft YaHei"/>
              </a:rPr>
              <a:t>11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" y="1060704"/>
            <a:ext cx="580644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i_ready_p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95" y="1133855"/>
            <a:ext cx="5403313" cy="382219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199632" y="1060704"/>
            <a:ext cx="5687568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i_ready_p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1759" y="1133855"/>
            <a:ext cx="5403313" cy="3822191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256032" y="5138928"/>
            <a:ext cx="11631168" cy="1298448"/>
          </a:xfrm>
          <a:prstGeom prst="roundRect">
            <a:avLst>
              <a:gd name="adj" fmla="val 8000"/>
            </a:avLst>
          </a:prstGeom>
          <a:solidFill>
            <a:srgbClr val="FFF5F4"/>
          </a:solidFill>
          <a:ln>
            <a:solidFill>
              <a:srgbClr val="EFB5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5230368"/>
            <a:ext cx="11338560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82536"/>
                </a:solidFill>
                <a:latin typeface="Microsoft YaHei"/>
                <a:ea typeface="Microsoft YaHei"/>
              </a:rPr>
              <a:t>p.14：XDU1350B + 预制 SFN + 缓冲/膨胀 + 冲洗套件，1.6 MW SuperPOD 1:1 FAT；能力叙事 50 MW IT / 35 MW 液冷、5 个月出货闭环。p.16：传统机房 30 分钟到场 vs GPU 液冷中断约 90 秒（泵停 30–60、气阻 30–90、超温 60–120、漏液立即停机）。90 秒来自本页维谛原图，不是二手博客。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45720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BC4E8"/>
                </a:solidFill>
                <a:latin typeface="Microsoft YaHei"/>
                <a:ea typeface="Microsoft YaHei"/>
              </a:rPr>
              <a:t>原图解读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92608"/>
            <a:ext cx="11430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方案册开篇：风液共存机房 + 全链路实物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01968"/>
            <a:ext cx="9692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D5E1EC"/>
                </a:solidFill>
                <a:latin typeface="Microsoft YaHei"/>
                <a:ea typeface="Microsoft YaHei"/>
              </a:rPr>
              <a:t>原图已去厂家铭牌/Logo  ·  底座 2025-08 + 方案册 2025-08 + 2026-09 公开页刷新  ·  对标解读，不替代选型单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D5E1EC"/>
                </a:solidFill>
                <a:latin typeface="Microsoft YaHei"/>
                <a:ea typeface="Microsoft YaHei"/>
              </a:rPr>
              <a:t>12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" y="1060704"/>
            <a:ext cx="7818120" cy="5394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oolchip_p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278946"/>
            <a:ext cx="7635240" cy="494018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229600" y="1060704"/>
            <a:ext cx="3675887" cy="539496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170432"/>
            <a:ext cx="34015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8B7A"/>
                </a:solidFill>
                <a:latin typeface="Microsoft YaHei"/>
                <a:ea typeface="Microsoft YaHei"/>
              </a:rPr>
              <a:t>读图要点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536192"/>
            <a:ext cx="3401568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左：风液共存新布局——浸没试点 + 通用微模块 + 算力微模块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右：完整产品照片链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CoolLoop 冷机/塔 → 泵 → CoolChip CDU（集中/分布式，风液/液液）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In-Row SFN 不锈钢环管 → 液冷机柜（手插或盲插）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柜内：VE 机柜 + Geist PDU / NetSure 母排 + In-Rack Manifold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这页证明维谛卖的是底座，不是一台 CDU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5806440"/>
            <a:ext cx="340156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07086"/>
                </a:solidFill>
                <a:latin typeface="Microsoft YaHei"/>
                <a:ea typeface="Microsoft YaHei"/>
              </a:rPr>
              <a:t>原图：CoolChip 方案册 p.3–4 跨页「数据中心新布局」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45720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BC4E8"/>
                </a:solidFill>
                <a:latin typeface="Microsoft YaHei"/>
                <a:ea typeface="Microsoft YaHei"/>
              </a:rPr>
              <a:t>原图解读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92608"/>
            <a:ext cx="11430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补冷怎么配，冷源怎么走：看这张红蓝管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01968"/>
            <a:ext cx="9692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D5E1EC"/>
                </a:solidFill>
                <a:latin typeface="Microsoft YaHei"/>
                <a:ea typeface="Microsoft YaHei"/>
              </a:rPr>
              <a:t>原图已去厂家铭牌/Logo  ·  底座 2025-08 + 方案册 2025-08 + 2026-09 公开页刷新  ·  对标解读，不替代选型单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D5E1EC"/>
                </a:solidFill>
                <a:latin typeface="Microsoft YaHei"/>
                <a:ea typeface="Microsoft YaHei"/>
              </a:rPr>
              <a:t>13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" y="1060704"/>
            <a:ext cx="7818120" cy="5394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oolchip_p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278946"/>
            <a:ext cx="7635240" cy="494018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229600" y="1060704"/>
            <a:ext cx="3675887" cy="539496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170432"/>
            <a:ext cx="34015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8B7A"/>
                </a:solidFill>
                <a:latin typeface="Microsoft YaHei"/>
                <a:ea typeface="Microsoft YaHei"/>
              </a:rPr>
              <a:t>读图要点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536192"/>
            <a:ext cx="3401568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冷板带走 50–95%，其余必须补冷——宣传区间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三方案星级表：冷冻水空调 / 动态双冷源 / 混动双擎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无冷机方案节水与简易性更好，水温适配更差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下半：同源冷塔、同源冷机、不同源（冷机或混动）四条红蓝管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与底座 p.6 架构树是同一套故事的产品化画法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可靠：双泵双电、智能补液、机柜+CDU+环管漏液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5806440"/>
            <a:ext cx="340156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07086"/>
                </a:solidFill>
                <a:latin typeface="Microsoft YaHei"/>
                <a:ea typeface="Microsoft YaHei"/>
              </a:rPr>
              <a:t>原图：CoolChip 方案册 p.5–6「风液混合 / 三冷源」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45720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BC4E8"/>
                </a:solidFill>
                <a:latin typeface="Microsoft YaHei"/>
                <a:ea typeface="Microsoft YaHei"/>
              </a:rPr>
              <a:t>原图解读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92608"/>
            <a:ext cx="11430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L2A 一台立柜，L2L 从 4U 跳到半柜——中间是空档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01968"/>
            <a:ext cx="9692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D5E1EC"/>
                </a:solidFill>
                <a:latin typeface="Microsoft YaHei"/>
                <a:ea typeface="Microsoft YaHei"/>
              </a:rPr>
              <a:t>原图已去厂家铭牌/Logo  ·  底座 2025-08 + 方案册 2025-08 + 2026-09 公开页刷新  ·  对标解读，不替代选型单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D5E1EC"/>
                </a:solidFill>
                <a:latin typeface="Microsoft YaHei"/>
                <a:ea typeface="Microsoft YaHei"/>
              </a:rPr>
              <a:t>14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" y="1060704"/>
            <a:ext cx="7818120" cy="5394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oolchip_p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278946"/>
            <a:ext cx="7635240" cy="494018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229600" y="1060704"/>
            <a:ext cx="3675887" cy="539496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170432"/>
            <a:ext cx="34015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8B7A"/>
                </a:solidFill>
                <a:latin typeface="Microsoft YaHei"/>
                <a:ea typeface="Microsoft YaHei"/>
              </a:rPr>
              <a:t>读图要点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536192"/>
            <a:ext cx="3401568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左：L2A CDU 70 实物，列间黑柜，70 kW / 进风 25℃ / 供液 42℃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传热：芯片 → 风液 CDU → 机房空气 → 空调 → 室外机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右：L2L 五型号实物——30/121 是矮机架，450/600/1350 是立柜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1350 明显更宽，三泵；印刷冷量 1368 kW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一次 5–40℃，二次 10–45℃，DI 或 PG25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121 与 450 之间没有立柜 SKU，照片上也能看出来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5806440"/>
            <a:ext cx="340156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07086"/>
                </a:solidFill>
                <a:latin typeface="Microsoft YaHei"/>
                <a:ea typeface="Microsoft YaHei"/>
              </a:rPr>
              <a:t>原图：CoolChip 方案册 p.7–8 产品照片 + 铭牌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45720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BC4E8"/>
                </a:solidFill>
                <a:latin typeface="Microsoft YaHei"/>
                <a:ea typeface="Microsoft YaHei"/>
              </a:rPr>
              <a:t>原图解读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92608"/>
            <a:ext cx="11430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二次侧长什么样：歧管照片和环管渲染比铭牌更重要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01968"/>
            <a:ext cx="9692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D5E1EC"/>
                </a:solidFill>
                <a:latin typeface="Microsoft YaHei"/>
                <a:ea typeface="Microsoft YaHei"/>
              </a:rPr>
              <a:t>原图已去厂家铭牌/Logo  ·  底座 2025-08 + 方案册 2025-08 + 2026-09 公开页刷新  ·  对标解读，不替代选型单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D5E1EC"/>
                </a:solidFill>
                <a:latin typeface="Microsoft YaHei"/>
                <a:ea typeface="Microsoft YaHei"/>
              </a:rPr>
              <a:t>15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" y="1060704"/>
            <a:ext cx="7818120" cy="5394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oolchip_p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278946"/>
            <a:ext cx="7635240" cy="494018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8229600" y="1060704"/>
            <a:ext cx="3675887" cy="539496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170432"/>
            <a:ext cx="34015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08B7A"/>
                </a:solidFill>
                <a:latin typeface="Microsoft YaHei"/>
                <a:ea typeface="Microsoft YaHei"/>
              </a:rPr>
              <a:t>读图要点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536192"/>
            <a:ext cx="3401568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手插柜 600×1200/1400×2000；盲插整柜 600×1200×2200（含背板深 1350）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歧管实物：304 方管，6/12/18 口，UQD08 / UQD04 / UQDB04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红蓝软管插在快速接头上——这是 TCS 界面照片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In-Row SFN：不锈钢环管 + 下支管，单柜故障半径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移动换液车：在线排/充/过滤，7 寸屏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182536"/>
                </a:solidFill>
                <a:latin typeface="Microsoft YaHei"/>
                <a:ea typeface="Microsoft YaHei"/>
              </a:rPr>
              <a:t>•  Lenovo GB300 公开 UQDB04，接头族可对，口数不是 18=18+9 Tray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5806440"/>
            <a:ext cx="340156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07086"/>
                </a:solidFill>
                <a:latin typeface="Microsoft YaHei"/>
                <a:ea typeface="Microsoft YaHei"/>
              </a:rPr>
              <a:t>原图：CoolChip 方案册 p.9–10 机柜 / 歧管 / 环管 / 换液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45720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BC4E8"/>
                </a:solidFill>
                <a:latin typeface="Microsoft YaHei"/>
                <a:ea typeface="Microsoft YaHei"/>
              </a:rPr>
              <a:t>对标纪律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92608"/>
            <a:ext cx="11430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原图里出现了三套液气比，必须拆开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01968"/>
            <a:ext cx="9692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D5E1EC"/>
                </a:solidFill>
                <a:latin typeface="Microsoft YaHei"/>
                <a:ea typeface="Microsoft YaHei"/>
              </a:rPr>
              <a:t>原图已去厂家铭牌/Logo  ·  底座 2025-08 + 方案册 2025-08 + 2026-09 公开页刷新  ·  对标解读，不替代选型单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D5E1EC"/>
                </a:solidFill>
                <a:latin typeface="Microsoft YaHei"/>
                <a:ea typeface="Microsoft YaHei"/>
              </a:rPr>
              <a:t>16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88720"/>
            <a:ext cx="3730752" cy="324612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88720"/>
            <a:ext cx="3730752" cy="1051560"/>
          </a:xfrm>
          <a:prstGeom prst="rect">
            <a:avLst/>
          </a:prstGeom>
          <a:solidFill>
            <a:srgbClr val="5B3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188720"/>
            <a:ext cx="3730752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</a:rPr>
              <a:t>70 / 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359152"/>
            <a:ext cx="34015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2748"/>
                </a:solidFill>
                <a:latin typeface="Microsoft YaHei"/>
                <a:ea typeface="Microsoft YaHei"/>
              </a:rPr>
              <a:t>底座 p.3 通用链路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816352"/>
            <a:ext cx="3401568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82536"/>
                </a:solidFill>
                <a:latin typeface="Microsoft YaHei"/>
                <a:ea typeface="Microsoft YaHei"/>
              </a:rPr>
              <a:t>内存/SSD 走风，CPU/GPU 走液。XDU 60–1350 kW。行业示意，不是某柜保证。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188720"/>
            <a:ext cx="3730752" cy="324612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188720"/>
            <a:ext cx="3730752" cy="1051560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60" y="1188720"/>
            <a:ext cx="3730752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</a:rPr>
              <a:t>72 / 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2359152"/>
            <a:ext cx="34015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2748"/>
                </a:solidFill>
                <a:latin typeface="Microsoft YaHei"/>
                <a:ea typeface="Microsoft YaHei"/>
              </a:rPr>
              <a:t>底座 p.11 SuperPOD 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2816352"/>
            <a:ext cx="3401568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82536"/>
                </a:solidFill>
                <a:latin typeface="Microsoft YaHei"/>
                <a:ea typeface="Microsoft YaHei"/>
              </a:rPr>
              <a:t>每 POD 832 kW 液 + 320 kW 风。XDU1350 + CW205。参考设计，130 kW 柜。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188720"/>
            <a:ext cx="3730752" cy="324612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188720"/>
            <a:ext cx="3730752" cy="105156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1188720"/>
            <a:ext cx="3730752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</a:rPr>
              <a:t>90 / 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2359152"/>
            <a:ext cx="34015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2748"/>
                </a:solidFill>
                <a:latin typeface="Microsoft YaHei"/>
                <a:ea typeface="Microsoft YaHei"/>
              </a:rPr>
              <a:t>GB300 OEM（Lenovo）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2816352"/>
            <a:ext cx="3401568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82536"/>
                </a:solidFill>
                <a:latin typeface="Microsoft YaHei"/>
                <a:ea typeface="Microsoft YaHei"/>
              </a:rPr>
              <a:t>本项目冻结口径。不得用 70/30 或 72/28 取消 CRAH，也不得叠加成 175 kW。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663440"/>
            <a:ext cx="11430000" cy="1691640"/>
          </a:xfrm>
          <a:prstGeom prst="roundRect">
            <a:avLst>
              <a:gd name="adj" fmla="val 8000"/>
            </a:avLst>
          </a:prstGeom>
          <a:solidFill>
            <a:srgbClr val="EEF5FF"/>
          </a:solidFill>
          <a:ln>
            <a:solidFill>
              <a:srgbClr val="176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800600"/>
            <a:ext cx="110642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82536"/>
                </a:solidFill>
                <a:latin typeface="Microsoft YaHei"/>
                <a:ea typeface="Microsoft YaHei"/>
              </a:rPr>
              <a:t>比流量同样分层：底座写 1.0–1.5 L/min·kW；Lenovo Table 27 是 0.39–1.18，且必须与 25–45℃ 成对。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182536"/>
                </a:solidFill>
                <a:latin typeface="Microsoft YaHei"/>
                <a:ea typeface="Microsoft YaHei"/>
              </a:rPr>
              <a:t>过滤：底座写 &lt;50 μm；方案册未给目数；全球页 50/25 μm。冷板项目按 25 μm 取严。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82536"/>
                </a:solidFill>
                <a:latin typeface="Microsoft YaHei"/>
                <a:ea typeface="Microsoft YaHei"/>
              </a:rPr>
              <a:t>90 秒失冷：出处就是底座 p.16，可直接引用维谛原图，同时仍不是 NVIDIA 官方秒级值。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45720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BC4E8"/>
                </a:solidFill>
                <a:latin typeface="Microsoft YaHei"/>
                <a:ea typeface="Microsoft YaHei"/>
              </a:rPr>
              <a:t>落到 GB300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92608"/>
            <a:ext cx="11430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原图怎么用在 142 / 155 kW 单柜上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01968"/>
            <a:ext cx="9692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D5E1EC"/>
                </a:solidFill>
                <a:latin typeface="Microsoft YaHei"/>
                <a:ea typeface="Microsoft YaHei"/>
              </a:rPr>
              <a:t>原图已去厂家铭牌/Logo  ·  底座 2025-08 + 方案册 2025-08 + 2026-09 公开页刷新  ·  对标解读，不替代选型单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D5E1EC"/>
                </a:solidFill>
                <a:latin typeface="Microsoft YaHei"/>
                <a:ea typeface="Microsoft YaHei"/>
              </a:rPr>
              <a:t>17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097280"/>
            <a:ext cx="11430000" cy="82296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170432"/>
            <a:ext cx="210312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8B7A"/>
                </a:solidFill>
                <a:latin typeface="Microsoft YaHei"/>
                <a:ea typeface="Microsoft YaHei"/>
              </a:rPr>
              <a:t>不要用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170432"/>
            <a:ext cx="420624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2748"/>
                </a:solidFill>
                <a:latin typeface="Microsoft YaHei"/>
                <a:ea typeface="Microsoft YaHei"/>
              </a:rPr>
              <a:t>CoolChip 70 L2A、无水方案里的 37.5 kW 示例柜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1170432"/>
            <a:ext cx="461772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07086"/>
                </a:solidFill>
                <a:latin typeface="Microsoft YaHei"/>
                <a:ea typeface="Microsoft YaHei"/>
              </a:rPr>
              <a:t>冷量和传热对象都对不上 90/10 × 155 kW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1965960"/>
            <a:ext cx="11430000" cy="82296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039112"/>
            <a:ext cx="210312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8B7A"/>
                </a:solidFill>
                <a:latin typeface="Microsoft YaHei"/>
                <a:ea typeface="Microsoft YaHei"/>
              </a:rPr>
              <a:t>单柜不要用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2039112"/>
            <a:ext cx="420624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2748"/>
                </a:solidFill>
                <a:latin typeface="Microsoft YaHei"/>
                <a:ea typeface="Microsoft YaHei"/>
              </a:rPr>
              <a:t>CoolChip 121 kW 机架式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039112"/>
            <a:ext cx="461772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07086"/>
                </a:solidFill>
                <a:latin typeface="Microsoft YaHei"/>
                <a:ea typeface="Microsoft YaHei"/>
              </a:rPr>
              <a:t>低于 150 kW 液冷选型；照片上也是 4U 小机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834639"/>
            <a:ext cx="11430000" cy="82296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907791"/>
            <a:ext cx="210312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8B7A"/>
                </a:solidFill>
                <a:latin typeface="Microsoft YaHei"/>
                <a:ea typeface="Microsoft YaHei"/>
              </a:rPr>
              <a:t>单柜首选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2907791"/>
            <a:ext cx="420624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2748"/>
                </a:solidFill>
                <a:latin typeface="Microsoft YaHei"/>
                <a:ea typeface="Microsoft YaHei"/>
              </a:rPr>
              <a:t>200–250 kW L2L，或 450 降额 + N+1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2907791"/>
            <a:ext cx="461772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07086"/>
                </a:solidFill>
                <a:latin typeface="Microsoft YaHei"/>
                <a:ea typeface="Microsoft YaHei"/>
              </a:rPr>
              <a:t>对着方案册照片：121 与 450 立柜之间的空档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703320"/>
            <a:ext cx="11430000" cy="82296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776472"/>
            <a:ext cx="210312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8B7A"/>
                </a:solidFill>
                <a:latin typeface="Microsoft YaHei"/>
                <a:ea typeface="Microsoft YaHei"/>
              </a:rPr>
              <a:t>8 柜 SU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3776472"/>
            <a:ext cx="420624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2748"/>
                </a:solidFill>
                <a:latin typeface="Microsoft YaHei"/>
                <a:ea typeface="Microsoft YaHei"/>
              </a:rPr>
              <a:t>XDU1350 / CoolChip 1350，必须 N+1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3776472"/>
            <a:ext cx="461772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07086"/>
                </a:solidFill>
                <a:latin typeface="Microsoft YaHei"/>
                <a:ea typeface="Microsoft YaHei"/>
              </a:rPr>
              <a:t>底座 p.11 用 1350 带 SuperPOD；宣传 8×GB300 要重算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4572000"/>
            <a:ext cx="11430000" cy="82296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645152"/>
            <a:ext cx="210312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8B7A"/>
                </a:solidFill>
                <a:latin typeface="Microsoft YaHei"/>
                <a:ea typeface="Microsoft YaHei"/>
              </a:rPr>
              <a:t>环管按图做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4645152"/>
            <a:ext cx="420624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2748"/>
                </a:solidFill>
                <a:latin typeface="Microsoft YaHei"/>
                <a:ea typeface="Microsoft YaHei"/>
              </a:rPr>
              <a:t>In-Row SFN + 单柜故障半径 + 定位漏检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4645152"/>
            <a:ext cx="461772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07086"/>
                </a:solidFill>
                <a:latin typeface="Microsoft YaHei"/>
                <a:ea typeface="Microsoft YaHei"/>
              </a:rPr>
              <a:t>可用性在环网，不在 CDU 铭牌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5440680"/>
            <a:ext cx="11430000" cy="82296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513832"/>
            <a:ext cx="210312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08B7A"/>
                </a:solidFill>
                <a:latin typeface="Microsoft YaHei"/>
                <a:ea typeface="Microsoft YaHei"/>
              </a:rPr>
              <a:t>厂验按图做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5513832"/>
            <a:ext cx="420624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2748"/>
                </a:solidFill>
                <a:latin typeface="Microsoft YaHei"/>
                <a:ea typeface="Microsoft YaHei"/>
              </a:rPr>
              <a:t>缓冲罐、膨胀、冲洗套件、1:1 FAT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5513832"/>
            <a:ext cx="461772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07086"/>
                </a:solidFill>
                <a:latin typeface="Microsoft YaHei"/>
                <a:ea typeface="Microsoft YaHei"/>
              </a:rPr>
              <a:t>方案册彩页不画，底座 p.14 画了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45720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BC4E8"/>
                </a:solidFill>
                <a:latin typeface="Microsoft YaHei"/>
                <a:ea typeface="Microsoft YaHei"/>
              </a:rPr>
              <a:t>2026-09 公开页刷新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92608"/>
            <a:ext cx="11430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方案册之后，行级颗粒和协议又往上走了一档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01968"/>
            <a:ext cx="9692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D5E1EC"/>
                </a:solidFill>
                <a:latin typeface="Microsoft YaHei"/>
                <a:ea typeface="Microsoft YaHei"/>
              </a:rPr>
              <a:t>原图已去厂家铭牌/Logo  ·  底座 2025-08 + 方案册 2025-08 + 2026-09 公开页刷新  ·  对标解读，不替代选型单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D5E1EC"/>
                </a:solidFill>
                <a:latin typeface="Microsoft YaHei"/>
                <a:ea typeface="Microsoft YaHei"/>
              </a:rPr>
              <a:t>18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097280"/>
            <a:ext cx="11430000" cy="1261872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188720"/>
            <a:ext cx="11155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8B7A"/>
                </a:solidFill>
                <a:latin typeface="Microsoft YaHei"/>
                <a:ea typeface="Microsoft YaHei"/>
              </a:rPr>
              <a:t>CoolChip 2300 DS SL-80005（05/26）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554480"/>
            <a:ext cx="111556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82536"/>
                </a:solidFill>
                <a:latin typeface="Microsoft YaHei"/>
                <a:ea typeface="Microsoft YaHei"/>
              </a:rPr>
              <a:t>2300 kW @ 4℃ ATD；2400×1200×1200；湿重 1793 kg；6″ 卫生法兰；47.8 kW；二次 25/50 μm；±1℃；Modbus。EMEA 2026-05-26 与列间歧管同期上市。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450591"/>
            <a:ext cx="11430000" cy="1261872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542032"/>
            <a:ext cx="11155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8B7A"/>
                </a:solidFill>
                <a:latin typeface="Microsoft YaHei"/>
                <a:ea typeface="Microsoft YaHei"/>
              </a:rPr>
              <a:t>CoolIT CHx2000（厂商页）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907791"/>
            <a:ext cx="111556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82536"/>
                </a:solidFill>
                <a:latin typeface="Microsoft YaHei"/>
                <a:ea typeface="Microsoft YaHei"/>
              </a:rPr>
              <a:t>2000 kW @ 5℃ ATD；750×1200；2125 LPM @ 35 psi；25 μm；Redfish + 群控 20 台。宣称单台带 12×GB300——按 12×155=1860 kW 有账，仍须 N+1。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803904"/>
            <a:ext cx="11430000" cy="1261872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95344"/>
            <a:ext cx="11155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8B7A"/>
                </a:solidFill>
                <a:latin typeface="Microsoft YaHei"/>
                <a:ea typeface="Microsoft YaHei"/>
              </a:rPr>
              <a:t>Motivair MCDU-70（2026-06）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261104"/>
            <a:ext cx="111556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82536"/>
                </a:solidFill>
                <a:latin typeface="Microsoft YaHei"/>
                <a:ea typeface="Microsoft YaHei"/>
              </a:rPr>
              <a:t>单台 2.5 MW，产品线 105 kW–2.5 MW；六台可按 4+2 撑 10 MW。颗粒在工厂侧，不补 121–450 单柜空档。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5157216"/>
            <a:ext cx="11430000" cy="1261872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248656"/>
            <a:ext cx="11155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08B7A"/>
                </a:solidFill>
                <a:latin typeface="Microsoft YaHei"/>
                <a:ea typeface="Microsoft YaHei"/>
              </a:rPr>
              <a:t>华为 / nVent 校正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614416"/>
            <a:ext cx="111556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82536"/>
                </a:solidFill>
                <a:latin typeface="Microsoft YaHei"/>
                <a:ea typeface="Microsoft YaHei"/>
              </a:rPr>
              <a:t>FusionCol L450：二次侧过滤公开 270 目；扬程 250/180 kPa。nVent CDU100 公开为 100 kW@6K（不是 125）；CDU800 800 kW@4K。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96112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6112"/>
            <a:ext cx="12191695" cy="45720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BC4E8"/>
                </a:solidFill>
                <a:latin typeface="Microsoft YaHei"/>
                <a:ea typeface="Microsoft YaHei"/>
              </a:rPr>
              <a:t>收束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92608"/>
            <a:ext cx="114300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原图讲底座，公开页补颗粒；图上厂家铭牌已去掉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2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01968"/>
            <a:ext cx="9692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D5E1EC"/>
                </a:solidFill>
                <a:latin typeface="Microsoft YaHei"/>
                <a:ea typeface="Microsoft YaHei"/>
              </a:rPr>
              <a:t>原图已去厂家铭牌/Logo  ·  底座 2025-08 + 方案册 2025-08 + 2026-09 公开页刷新  ·  对标解读，不替代选型单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D5E1EC"/>
                </a:solidFill>
                <a:latin typeface="Microsoft YaHei"/>
                <a:ea typeface="Microsoft YaHei"/>
              </a:rPr>
              <a:t>19 /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43000"/>
            <a:ext cx="3730752" cy="233172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109728" cy="2331720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8016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B2748"/>
                </a:solidFill>
                <a:latin typeface="Microsoft YaHei"/>
                <a:ea typeface="Microsoft YaHei"/>
              </a:rPr>
              <a:t>1  功率代际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37360"/>
            <a:ext cx="32918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82536"/>
                </a:solidFill>
                <a:latin typeface="Microsoft YaHei"/>
                <a:ea typeface="Microsoft YaHei"/>
              </a:rPr>
              <a:t>单柜从 41 → 132 → 200+ → 600 → 1000 kW，底座必须可升级。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143000"/>
            <a:ext cx="3730752" cy="233172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1143000"/>
            <a:ext cx="109728" cy="2331720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28016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B2748"/>
                </a:solidFill>
                <a:latin typeface="Microsoft YaHei"/>
                <a:ea typeface="Microsoft YaHei"/>
              </a:rPr>
              <a:t>2  三套液气比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1737360"/>
            <a:ext cx="32918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82536"/>
                </a:solidFill>
                <a:latin typeface="Microsoft YaHei"/>
                <a:ea typeface="Microsoft YaHei"/>
              </a:rPr>
              <a:t>70/30 示意、72/28 SuperPOD、90/10 GB300，禁止混用。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143000"/>
            <a:ext cx="3730752" cy="233172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143000"/>
            <a:ext cx="109728" cy="2331720"/>
          </a:xfrm>
          <a:prstGeom prst="rect">
            <a:avLst/>
          </a:prstGeom>
          <a:solidFill>
            <a:srgbClr val="00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28016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B2748"/>
                </a:solidFill>
                <a:latin typeface="Microsoft YaHei"/>
                <a:ea typeface="Microsoft YaHei"/>
              </a:rPr>
              <a:t>3  架构树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1737360"/>
            <a:ext cx="32918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82536"/>
                </a:solidFill>
                <a:latin typeface="Microsoft YaHei"/>
                <a:ea typeface="Microsoft YaHei"/>
              </a:rPr>
              <a:t>同源高/低温 + 氟液无水 + 非同源，对应方案册三冷源照片。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657600"/>
            <a:ext cx="3730752" cy="233172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657600"/>
            <a:ext cx="109728" cy="2331720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79476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B2748"/>
                </a:solidFill>
                <a:latin typeface="Microsoft YaHei"/>
                <a:ea typeface="Microsoft YaHei"/>
              </a:rPr>
              <a:t>4  实施五项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251960"/>
            <a:ext cx="32918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82536"/>
                </a:solidFill>
                <a:latin typeface="Microsoft YaHei"/>
                <a:ea typeface="Microsoft YaHei"/>
              </a:rPr>
              <a:t>过滤、25–45℃、比流量、工质、故障预防；OEM 表优先。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1960" y="3657600"/>
            <a:ext cx="3730752" cy="233172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51960" y="3657600"/>
            <a:ext cx="109728" cy="2331720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379476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B2748"/>
                </a:solidFill>
                <a:latin typeface="Microsoft YaHei"/>
                <a:ea typeface="Microsoft YaHei"/>
              </a:rPr>
              <a:t>5  工厂能力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4251960"/>
            <a:ext cx="32918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82536"/>
                </a:solidFill>
                <a:latin typeface="Microsoft YaHei"/>
                <a:ea typeface="Microsoft YaHei"/>
              </a:rPr>
              <a:t>7 MW / XDU1350、Smart Run 80–120 天、1:1 FAT、90 秒失冷。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3657600"/>
            <a:ext cx="3730752" cy="2331720"/>
          </a:xfrm>
          <a:prstGeom prst="roundRect">
            <a:avLst>
              <a:gd name="adj" fmla="val 8000"/>
            </a:avLst>
          </a:prstGeom>
          <a:solidFill>
            <a:srgbClr val="F6F9FC"/>
          </a:solidFill>
          <a:ln>
            <a:solidFill>
              <a:srgbClr val="D7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8160" y="3657600"/>
            <a:ext cx="109728" cy="2331720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379476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B2748"/>
                </a:solidFill>
                <a:latin typeface="Microsoft YaHei"/>
                <a:ea typeface="Microsoft YaHei"/>
              </a:rPr>
              <a:t>6  产品空档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251960"/>
            <a:ext cx="32918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82536"/>
                </a:solidFill>
                <a:latin typeface="Microsoft YaHei"/>
                <a:ea typeface="Microsoft YaHei"/>
              </a:rPr>
              <a:t>照片上 121 是矮机、450 是立柜，200 kW 级要自补或选 CoolIT CHx200。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