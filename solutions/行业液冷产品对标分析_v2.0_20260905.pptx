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2926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C4E8"/>
                </a:solidFill>
                <a:latin typeface="Microsoft YaHei"/>
                <a:ea typeface="Microsoft YaHei"/>
              </a:rPr>
              <a:t>AIDC  ·  冷板液冷底座  ·  产品对标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515600" cy="10515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</a:rPr>
              <a:t>行业液冷产品对标分析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70048"/>
            <a:ext cx="10515600" cy="4572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7E6F5"/>
                </a:solidFill>
                <a:latin typeface="Microsoft YaHei"/>
                <a:ea typeface="Microsoft YaHei"/>
              </a:rPr>
              <a:t>从 GB300 的硬约束出发，用 ASHRAE / OCP 做中立标尺，再看产品够不够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118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77240" y="3611880"/>
            <a:ext cx="2606040" cy="73152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3785615"/>
            <a:ext cx="2286000" cy="32918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8B7A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33087"/>
            <a:ext cx="228600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为什么重做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80560"/>
            <a:ext cx="2286000" cy="40233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BC4E8"/>
                </a:solidFill>
                <a:latin typeface="Microsoft YaHei"/>
                <a:ea typeface="Microsoft YaHei"/>
              </a:rPr>
              <a:t>功率代际 · 90 秒失冷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6118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566160" y="3611880"/>
            <a:ext cx="2606040" cy="73152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49039" y="3785615"/>
            <a:ext cx="2286000" cy="32918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8B7A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133087"/>
            <a:ext cx="228600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规范怎么说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480560"/>
            <a:ext cx="2286000" cy="40233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BC4E8"/>
                </a:solidFill>
                <a:latin typeface="Microsoft YaHei"/>
                <a:ea typeface="Microsoft YaHei"/>
              </a:rPr>
              <a:t>ASHRAE W 类 · OCP 2 MW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36118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355079" y="3611880"/>
            <a:ext cx="2606040" cy="73152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37959" y="3785615"/>
            <a:ext cx="2286000" cy="32918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8B7A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133087"/>
            <a:ext cx="228600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产品能否达标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480560"/>
            <a:ext cx="2286000" cy="40233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BC4E8"/>
                </a:solidFill>
                <a:latin typeface="Microsoft YaHei"/>
                <a:ea typeface="Microsoft YaHei"/>
              </a:rPr>
              <a:t>原图 · 铭牌 · 竞品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3999" y="36118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9143999" y="3611880"/>
            <a:ext cx="2606040" cy="73152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79" y="3785615"/>
            <a:ext cx="2286000" cy="32918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8B7A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79" y="4133087"/>
            <a:ext cx="228600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怎么选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79" y="4480560"/>
            <a:ext cx="2286000" cy="40233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BC4E8"/>
                </a:solidFill>
                <a:latin typeface="Microsoft YaHei"/>
                <a:ea typeface="Microsoft YaHei"/>
              </a:rPr>
              <a:t>场景 · 校核 · 禁止事项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532120"/>
            <a:ext cx="1051560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C4E8"/>
                </a:solidFill>
                <a:latin typeface="Microsoft YaHei"/>
                <a:ea typeface="Microsoft YaHei"/>
              </a:rPr>
              <a:t>材料：AI 算力工厂液冷底座（17 页）+ CoolChip CDU 方案册（8 页），均 2025-08-08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97880"/>
            <a:ext cx="1051560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BC4E8"/>
                </a:solidFill>
                <a:latin typeface="Microsoft YaHei"/>
                <a:ea typeface="Microsoft YaHei"/>
              </a:rPr>
              <a:t>刷新：2026-09 公开数据表与官方新闻  ·  图内厂家铭牌 / Logo 已去除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309360"/>
            <a:ext cx="1051560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FA6C9"/>
                </a:solidFill>
                <a:latin typeface="Microsoft YaHei"/>
                <a:ea typeface="Microsoft YaHei"/>
              </a:rPr>
              <a:t>v2.0  ·  2026-09-05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执行摘要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五条结论：底座能力够，颗粒有空档，口径必须分层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2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43000"/>
            <a:ext cx="11430000" cy="91440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84048" y="1143000"/>
            <a:ext cx="91440" cy="91440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1792" y="1143000"/>
            <a:ext cx="777240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8B7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261872"/>
            <a:ext cx="2423160" cy="6858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748"/>
                </a:solidFill>
                <a:latin typeface="Microsoft YaHei"/>
                <a:ea typeface="Microsoft YaHei"/>
              </a:rPr>
              <a:t>风冷已被甩开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261872"/>
            <a:ext cx="7635240" cy="6858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单柜 41 → 132 → 142/155 → 200+ kW。GB300 液冷是架构强制，无风冷版本。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21408"/>
            <a:ext cx="11430000" cy="91440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84048" y="2121408"/>
            <a:ext cx="91440" cy="9144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792" y="2121408"/>
            <a:ext cx="777240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B4231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240280"/>
            <a:ext cx="2423160" cy="6858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748"/>
                </a:solidFill>
                <a:latin typeface="Microsoft YaHei"/>
                <a:ea typeface="Microsoft YaHei"/>
              </a:rPr>
              <a:t>口径必须分层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240280"/>
            <a:ext cx="7635240" cy="6858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液气比出现 70/30、72/28、90/10 三套；比流量出现 1.0–1.5 与 0.39–1.18 两套。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3099816"/>
            <a:ext cx="11430000" cy="91440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84048" y="3099816"/>
            <a:ext cx="91440" cy="91440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1792" y="3099816"/>
            <a:ext cx="777240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769E0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218688"/>
            <a:ext cx="2423160" cy="6858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748"/>
                </a:solidFill>
                <a:latin typeface="Microsoft YaHei"/>
                <a:ea typeface="Microsoft YaHei"/>
              </a:rPr>
              <a:t>标尺用中立件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3218688"/>
            <a:ext cx="7635240" cy="6858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ASHRAE W45 定水温语义，OCP Deschutes 定 CDU 硬指标，厂商彩页只作能力证据。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4078224"/>
            <a:ext cx="11430000" cy="91440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384048" y="4078224"/>
            <a:ext cx="91440" cy="91440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792" y="4078224"/>
            <a:ext cx="777240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A65B00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197096"/>
            <a:ext cx="2423160" cy="6858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748"/>
                </a:solidFill>
                <a:latin typeface="Microsoft YaHei"/>
                <a:ea typeface="Microsoft YaHei"/>
              </a:rPr>
              <a:t>产品有空档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197096"/>
            <a:ext cx="7635240" cy="6858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中国册 121 与 450 kW 之间无行级 SKU，而 GB300 单柜正落在 150 kW 档。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5056632"/>
            <a:ext cx="11430000" cy="91440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384048" y="5056632"/>
            <a:ext cx="91440" cy="91440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1792" y="5056632"/>
            <a:ext cx="777240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8B7A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175504"/>
            <a:ext cx="2423160" cy="6858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748"/>
                </a:solidFill>
                <a:latin typeface="Microsoft YaHei"/>
                <a:ea typeface="Microsoft YaHei"/>
              </a:rPr>
              <a:t>可用性决定胜负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5175504"/>
            <a:ext cx="7635240" cy="6858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GPU 失冷容忍约 90 秒，远短于传统 30 分钟到场；N+1、环网隔离、FAT 比铭牌 kW 更关键。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EEF5FF"/>
          </a:solidFill>
          <a:ln w="12700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本文件是对标解读：可用于选型判据与招标条款草拟，不替代 OEM ICD、厂家选型单与现场 FAT 报告。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论证路线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四步：先定约束，再定标尺，然后验产品，最后落选型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3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88720"/>
            <a:ext cx="2724912" cy="44348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84048" y="1188720"/>
            <a:ext cx="2724912" cy="621792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1188720"/>
            <a:ext cx="2377440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1   为什么重做底座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65960"/>
            <a:ext cx="2377440" cy="34747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· 单柜功率代际跳变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· GB300 硬约束：142/155、90/10、W45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· 失冷窗口约 90 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3017520"/>
            <a:ext cx="274320" cy="4572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607086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1188720"/>
            <a:ext cx="2724912" cy="44348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273552" y="1188720"/>
            <a:ext cx="2724912" cy="6217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38144" y="1188720"/>
            <a:ext cx="2377440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2   行业规范怎么说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1965960"/>
            <a:ext cx="2377440" cy="34747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· ASHRAE W17–W+ 水温语义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· OCP Deschutes 2 MW CDU 硬指标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· 三套液气比与两套比流量分层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017520"/>
            <a:ext cx="274320" cy="4572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607086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1188720"/>
            <a:ext cx="2724912" cy="44348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163056" y="1188720"/>
            <a:ext cx="2724912" cy="621792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27648" y="1188720"/>
            <a:ext cx="2377440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3   产品能否达标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1965960"/>
            <a:ext cx="2377440" cy="34747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· 架构树与五项设计输入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· L2A / L2L 铭牌与二次侧实物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· 能力阶梯 · 竞品 · 市场位置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3017520"/>
            <a:ext cx="274320" cy="4572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607086"/>
                </a:solidFill>
                <a:latin typeface="Microsoft YaHei"/>
                <a:ea typeface="Microsoft YaHei"/>
              </a:rPr>
              <a:t>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188720"/>
            <a:ext cx="2724912" cy="44348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9052560" y="1188720"/>
            <a:ext cx="2724912" cy="621792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17152" y="1188720"/>
            <a:ext cx="2377440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4   怎么选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965960"/>
            <a:ext cx="2377440" cy="34747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· 按场景选形态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· GB300 适配校核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· 风险、禁止事项与待补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 w="12700">
            <a:solidFill>
              <a:srgbClr val="00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每一章的结论都写在页标题上；页面底部条是该页唯一需要带走的判断。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0058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9BC4E8"/>
                </a:solidFill>
                <a:latin typeface="Microsoft YaHei"/>
                <a:ea typeface="Microsoft YaHei"/>
              </a:rPr>
              <a:t>第 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为什么必须重做底座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D7E6F5"/>
                </a:solidFill>
                <a:latin typeface="Microsoft YaHei"/>
                <a:ea typeface="Microsoft YaHei"/>
              </a:rPr>
              <a:t>功率、混合冷却比例、失冷窗口——三个都不可谈判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9264" y="5029200"/>
            <a:ext cx="233172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1  为什么重做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5029200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1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58183" y="5029200"/>
            <a:ext cx="233172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2  规范怎么说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029200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1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47104" y="5029200"/>
            <a:ext cx="233172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3  产品能否达标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5029200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1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36024" y="5029200"/>
            <a:ext cx="233172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4  怎么选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3796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BC4E8"/>
                </a:solidFill>
                <a:latin typeface="Microsoft YaHei"/>
                <a:ea typeface="Microsoft YaHei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1 章 · 为什么必须重做底座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单柜功率按代际跳变，风冷路线已经没有延长线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5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97280"/>
            <a:ext cx="7269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ai_ready_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72" y="1170432"/>
            <a:ext cx="5946231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422392"/>
            <a:ext cx="7040880" cy="23774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07086"/>
                </a:solidFill>
                <a:latin typeface="Microsoft YaHei"/>
                <a:ea typeface="Microsoft YaHei"/>
              </a:rPr>
              <a:t>原图：液冷底座 p.2「芯片升级，散热如何变化？」（页脚品牌已去除）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097280"/>
            <a:ext cx="3950208" cy="461772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863840" y="1097280"/>
            <a:ext cx="3950208" cy="384048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28431" y="1097280"/>
            <a:ext cx="3657600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1627632"/>
            <a:ext cx="3621024" cy="3977639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08B7A"/>
                </a:solidFill>
                <a:latin typeface="Microsoft YaHei"/>
                <a:ea typeface="Microsoft YaHei"/>
              </a:rPr>
              <a:t>· 芯片：A100≈400 W → H100≈700 W → B200≈1000 W → Feynman 宣称 4400 W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08B7A"/>
                </a:solidFill>
                <a:latin typeface="Microsoft YaHei"/>
                <a:ea typeface="Microsoft YaHei"/>
              </a:rPr>
              <a:t>· 单柜：H100 41 kW → GB200 NVL72 132 kW → Rubin NVL144 200+ kW → Ultra 600 kW → Feynman 1000 kW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GB300 公开 142、OEM 峰值 155，正落在 132 与 200+ 之间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图注来源为 Omdia / NVIDIA / SemiAnalysis，是趋势判断，不是订单承诺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 w="12700">
            <a:solidFill>
              <a:srgbClr val="00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底座要按代际选：今天满足 155 kW，还得留出到 200 kW 级的接口与冷源余量。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1 章 · 为什么必须重做底座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GB300 的约束是架构级的，不是配置项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6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097280"/>
            <a:ext cx="11430000" cy="2926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07086"/>
                </a:solidFill>
                <a:latin typeface="Microsoft YaHei"/>
                <a:ea typeface="Microsoft YaHei"/>
              </a:rPr>
              <a:t>2026-09 公开资料交叉核对（NVIDIA ERA / Lenovo LP2357 / HPE QuickSpecs / ModulEdge 汇总）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481328"/>
            <a:ext cx="2724912" cy="1783080"/>
          </a:xfrm>
          <a:prstGeom prst="roundRect">
            <a:avLst>
              <a:gd name="adj" fmla="val 6000"/>
            </a:avLst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30352" y="1627632"/>
            <a:ext cx="2432304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132–142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212848"/>
            <a:ext cx="2432304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8B7A"/>
                </a:solidFill>
                <a:latin typeface="Microsoft YaHei"/>
                <a:ea typeface="Microsoft YaHei"/>
              </a:rPr>
              <a:t>标称单柜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523744"/>
            <a:ext cx="2432304" cy="6400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BC4E8"/>
                </a:solidFill>
                <a:latin typeface="Microsoft YaHei"/>
                <a:ea typeface="Microsoft YaHei"/>
              </a:rPr>
              <a:t>NVIDIA ERA 写 up to 142；HPE 132；Lenovo 135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1481328"/>
            <a:ext cx="2724912" cy="1783080"/>
          </a:xfrm>
          <a:prstGeom prst="roundRect">
            <a:avLst>
              <a:gd name="adj" fmla="val 6000"/>
            </a:avLst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419856" y="1627632"/>
            <a:ext cx="2432304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~155 kW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2212848"/>
            <a:ext cx="2432304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8B7A"/>
                </a:solidFill>
                <a:latin typeface="Microsoft YaHei"/>
                <a:ea typeface="Microsoft YaHei"/>
              </a:rPr>
              <a:t>EDP 峰值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523744"/>
            <a:ext cx="2432304" cy="6400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BC4E8"/>
                </a:solidFill>
                <a:latin typeface="Microsoft YaHei"/>
                <a:ea typeface="Microsoft YaHei"/>
              </a:rPr>
              <a:t>按峰值包络做冷却与母线，不按标称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481328"/>
            <a:ext cx="2724912" cy="1783080"/>
          </a:xfrm>
          <a:prstGeom prst="roundRect">
            <a:avLst>
              <a:gd name="adj" fmla="val 6000"/>
            </a:avLst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09360" y="1627632"/>
            <a:ext cx="2432304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90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212848"/>
            <a:ext cx="2432304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8B7A"/>
                </a:solidFill>
                <a:latin typeface="Microsoft YaHei"/>
                <a:ea typeface="Microsoft YaHei"/>
              </a:rPr>
              <a:t>液 / 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523744"/>
            <a:ext cx="2432304" cy="6400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BC4E8"/>
                </a:solidFill>
                <a:latin typeface="Microsoft YaHei"/>
                <a:ea typeface="Microsoft YaHei"/>
              </a:rPr>
              <a:t>CPU+GPU+NVSwitch 走液，其余约 10% 仍需风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481328"/>
            <a:ext cx="2724912" cy="1783080"/>
          </a:xfrm>
          <a:prstGeom prst="roundRect">
            <a:avLst>
              <a:gd name="adj" fmla="val 6000"/>
            </a:avLst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98864" y="1627632"/>
            <a:ext cx="2432304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W45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2212848"/>
            <a:ext cx="2432304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8B7A"/>
                </a:solidFill>
                <a:latin typeface="Microsoft YaHei"/>
                <a:ea typeface="Microsoft YaHei"/>
              </a:rPr>
              <a:t>设施水等级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2523744"/>
            <a:ext cx="2432304" cy="6400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BC4E8"/>
                </a:solidFill>
                <a:latin typeface="Microsoft YaHei"/>
                <a:ea typeface="Microsoft YaHei"/>
              </a:rPr>
              <a:t>供水 2–50℃；MGX 全系按 45℃ 温水设计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3456432"/>
            <a:ext cx="11430000" cy="5486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456432"/>
            <a:ext cx="228600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流量随水温查表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456432"/>
            <a:ext cx="416052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25℃ 约 59 L/min，45℃ 约 177 L/min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456432"/>
            <a:ext cx="443484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07086"/>
                </a:solidFill>
                <a:latin typeface="Microsoft YaHei"/>
                <a:ea typeface="Microsoft YaHei"/>
              </a:rPr>
              <a:t>温度与流量必须成对取用，不能各取一半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059935"/>
            <a:ext cx="11430000" cy="5486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48640" y="4059935"/>
            <a:ext cx="228600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负载秒级摆动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059935"/>
            <a:ext cx="416052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Uptime 记录机柜 60 → 150 kW 在 1–2 秒内完成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059935"/>
            <a:ext cx="443484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07086"/>
                </a:solidFill>
                <a:latin typeface="Microsoft YaHei"/>
                <a:ea typeface="Microsoft YaHei"/>
              </a:rPr>
              <a:t>控制要按动态负载设计，N+1 之外考虑 N+2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4663440"/>
            <a:ext cx="11430000" cy="5486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48640" y="4663440"/>
            <a:ext cx="228600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母线预留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4663440"/>
            <a:ext cx="416052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HPE 建议按 192 kW provision 母线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663440"/>
            <a:ext cx="443484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07086"/>
                </a:solidFill>
                <a:latin typeface="Microsoft YaHei"/>
                <a:ea typeface="Microsoft YaHei"/>
              </a:rPr>
              <a:t>电与冷同步留余量，否则下一代必须停机改造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4048" y="5266944"/>
            <a:ext cx="11430000" cy="5486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48640" y="5266944"/>
            <a:ext cx="228600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无风冷版本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266944"/>
            <a:ext cx="416052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NVL72 不存在纯风冷配置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266944"/>
            <a:ext cx="443484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07086"/>
                </a:solidFill>
                <a:latin typeface="Microsoft YaHei"/>
                <a:ea typeface="Microsoft YaHei"/>
              </a:rPr>
              <a:t>「全液冷可取消 CRAH」是错的，10% 风侧必须留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FFF4F3"/>
          </a:solidFill>
          <a:ln w="127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设计基线取 155 kW 峰值 + 90/10 + W45；任何厂商宣传区间都不得替换这三个数。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1 章 · 为什么必须重做底座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失冷容忍约 90 秒，传统 30 分钟到场机制直接失效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7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97280"/>
            <a:ext cx="7269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ai_ready_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72" y="1170432"/>
            <a:ext cx="5946231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422392"/>
            <a:ext cx="7040880" cy="23774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07086"/>
                </a:solidFill>
                <a:latin typeface="Microsoft YaHei"/>
                <a:ea typeface="Microsoft YaHei"/>
              </a:rPr>
              <a:t>原图：液冷底座 p.16「从液冷视角评估 AIDC 对中断恢复的容忍度」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097280"/>
            <a:ext cx="3950208" cy="461772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863840" y="1097280"/>
            <a:ext cx="3950208" cy="384048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28431" y="1097280"/>
            <a:ext cx="3657600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1627632"/>
            <a:ext cx="3621024" cy="3977639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08B7A"/>
                </a:solidFill>
                <a:latin typeface="Microsoft YaHei"/>
                <a:ea typeface="Microsoft YaHei"/>
              </a:rPr>
              <a:t>· 左：传统机房中断恢复标准 = 30 分钟（响应 5 + 恢复 25）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08B7A"/>
                </a:solidFill>
                <a:latin typeface="Microsoft YaHei"/>
                <a:ea typeface="Microsoft YaHei"/>
              </a:rPr>
              <a:t>· 右：GPU 对液冷中断容忍 ≈ 90 秒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泵停/断流 30–60 s；气阻 30–90 s；供液超温 60–120 s；滤芯瞬堵 30–60 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漏液联锁为立即停机，没有缓冲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此页是维谛原图口径，不是 NVIDIA 官方秒级值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FFF4F3"/>
          </a:solidFill>
          <a:ln w="127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90 秒意味着恢复必须自动化：备泵自投、旁通、蓄冷惯量与联锁，全靠人工调度必然超时。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0058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9BC4E8"/>
                </a:solidFill>
                <a:latin typeface="Microsoft YaHei"/>
                <a:ea typeface="Microsoft YaHei"/>
              </a:rPr>
              <a:t>第 2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行业规范怎么说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D7E6F5"/>
                </a:solidFill>
                <a:latin typeface="Microsoft YaHei"/>
                <a:ea typeface="Microsoft YaHei"/>
              </a:rPr>
              <a:t>先用中立标准立尺，再拿厂商彩页当证据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1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9264" y="5029200"/>
            <a:ext cx="233172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1  为什么重做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5029200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58183" y="5029200"/>
            <a:ext cx="233172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2  规范怎么说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029200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1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47104" y="5029200"/>
            <a:ext cx="233172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3  产品能否达标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5029200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1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36024" y="5029200"/>
            <a:ext cx="233172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4  怎么选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3796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BC4E8"/>
                </a:solidFill>
                <a:latin typeface="Microsoft YaHei"/>
                <a:ea typeface="Microsoft YaHe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2 章 · 行业规范怎么说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水温先说清 W 类语义，再谈能不能省掉冷机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9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097280"/>
            <a:ext cx="1143000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ASHRAE 第 5 版把液冷等级按上限温度重命名：所有 W 类下限统一 2℃，编号即供液上限（℃）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382518"/>
            <a:ext cx="1371600" cy="84201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2998470"/>
            <a:ext cx="1371600" cy="34747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E6FC4"/>
                </a:solidFill>
                <a:latin typeface="Microsoft YaHei"/>
                <a:ea typeface="Microsoft YaHei"/>
              </a:rPr>
              <a:t>W17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79392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82536"/>
                </a:solidFill>
                <a:latin typeface="Microsoft YaHei"/>
                <a:ea typeface="Microsoft YaHei"/>
              </a:rPr>
              <a:t>上限 17℃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553712"/>
            <a:ext cx="1591056" cy="8686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07086"/>
                </a:solidFill>
                <a:latin typeface="Microsoft YaHei"/>
                <a:ea typeface="Microsoft YaHei"/>
              </a:rPr>
              <a:t>多数时段需冷冻水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2887218"/>
            <a:ext cx="1371600" cy="1337310"/>
          </a:xfrm>
          <a:prstGeom prst="rect">
            <a:avLst/>
          </a:prstGeom>
          <a:solidFill>
            <a:srgbClr val="2A8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560320" y="2503170"/>
            <a:ext cx="1371600" cy="34747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A86B8"/>
                </a:solidFill>
                <a:latin typeface="Microsoft YaHei"/>
                <a:ea typeface="Microsoft YaHei"/>
              </a:rPr>
              <a:t>W27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279392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82536"/>
                </a:solidFill>
                <a:latin typeface="Microsoft YaHei"/>
                <a:ea typeface="Microsoft YaHei"/>
              </a:rPr>
              <a:t>上限 27℃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0591" y="4553712"/>
            <a:ext cx="1591056" cy="8686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07086"/>
                </a:solidFill>
                <a:latin typeface="Microsoft YaHei"/>
                <a:ea typeface="Microsoft YaHei"/>
              </a:rPr>
              <a:t>中等水温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639568"/>
            <a:ext cx="1371600" cy="1584960"/>
          </a:xfrm>
          <a:prstGeom prst="rect">
            <a:avLst/>
          </a:prstGeom>
          <a:solidFill>
            <a:srgbClr val="24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34840" y="2255520"/>
            <a:ext cx="1371600" cy="34747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4969E"/>
                </a:solidFill>
                <a:latin typeface="Microsoft YaHei"/>
                <a:ea typeface="Microsoft YaHei"/>
              </a:rPr>
              <a:t>W32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279392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82536"/>
                </a:solidFill>
                <a:latin typeface="Microsoft YaHei"/>
                <a:ea typeface="Microsoft YaHei"/>
              </a:rPr>
              <a:t>上限 32℃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4553712"/>
            <a:ext cx="1591056" cy="8686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07086"/>
                </a:solidFill>
                <a:latin typeface="Microsoft YaHei"/>
                <a:ea typeface="Microsoft YaHei"/>
              </a:rPr>
              <a:t>自然冷时长明显增加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2243328"/>
            <a:ext cx="1371600" cy="1981200"/>
          </a:xfrm>
          <a:prstGeom prst="rect">
            <a:avLst/>
          </a:prstGeom>
          <a:solidFill>
            <a:srgbClr val="2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09359" y="1859280"/>
            <a:ext cx="1371600" cy="34747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E9E74"/>
                </a:solidFill>
                <a:latin typeface="Microsoft YaHei"/>
                <a:ea typeface="Microsoft YaHei"/>
              </a:rPr>
              <a:t>W40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4279392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82536"/>
                </a:solidFill>
                <a:latin typeface="Microsoft YaHei"/>
                <a:ea typeface="Microsoft YaHei"/>
              </a:rPr>
              <a:t>上限 40℃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1" y="4553712"/>
            <a:ext cx="1591056" cy="8686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07086"/>
                </a:solidFill>
                <a:latin typeface="Microsoft YaHei"/>
                <a:ea typeface="Microsoft YaHei"/>
              </a:rPr>
              <a:t>第 5 版新增等级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1995678"/>
            <a:ext cx="1371600" cy="222885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83879" y="1611630"/>
            <a:ext cx="1371600" cy="34747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08B7A"/>
                </a:solidFill>
                <a:latin typeface="Microsoft YaHei"/>
                <a:ea typeface="Microsoft YaHei"/>
              </a:rPr>
              <a:t>W45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279392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82536"/>
                </a:solidFill>
                <a:latin typeface="Microsoft YaHei"/>
                <a:ea typeface="Microsoft YaHei"/>
              </a:rPr>
              <a:t>上限 45℃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4152" y="4553712"/>
            <a:ext cx="1591056" cy="8686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07086"/>
                </a:solidFill>
                <a:latin typeface="Microsoft YaHei"/>
                <a:ea typeface="Microsoft YaHei"/>
              </a:rPr>
              <a:t>塔 / 干冷全年排热，多数气候可免冷机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1995678"/>
            <a:ext cx="1371600" cy="222885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058400" y="1611630"/>
            <a:ext cx="1371600" cy="34747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A65B00"/>
                </a:solidFill>
                <a:latin typeface="Microsoft YaHei"/>
                <a:ea typeface="Microsoft YaHei"/>
              </a:rPr>
              <a:t>W+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279392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82536"/>
                </a:solidFill>
                <a:latin typeface="Microsoft YaHei"/>
                <a:ea typeface="Microsoft YaHei"/>
              </a:rPr>
              <a:t>上限 &gt;45℃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4553712"/>
            <a:ext cx="1591056" cy="86868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07086"/>
                </a:solidFill>
                <a:latin typeface="Microsoft YaHei"/>
                <a:ea typeface="Microsoft YaHei"/>
              </a:rPr>
              <a:t>开放等级，超过 45℃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24528"/>
            <a:ext cx="11155680" cy="18288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384048" y="5138928"/>
            <a:ext cx="5623560" cy="621792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2700">
            <a:solidFill>
              <a:srgbClr val="A65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5138928"/>
            <a:ext cx="5303520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合规新定义：在该等级全温域内「不降频满性能」运行，才算符合该 W 类。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0488" y="5138928"/>
            <a:ext cx="5623560" cy="621792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 w="12700">
            <a:solidFill>
              <a:srgbClr val="00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73368" y="5138928"/>
            <a:ext cx="5303520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GB300 属 W45（2–50℃ 供水）；维谛二次侧产品窗 10–45℃ 可覆盖。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 w="12700">
            <a:solidFill>
              <a:srgbClr val="00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设施侧按 W45 设计即可免冷机；但 10℃ 不是 GB300 运行点，产品窗宽 ≠ 保证点。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2 章 · 行业规范怎么说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CDU 该怎么评，OCP Deschutes 已经把硬指标写死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10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097280"/>
            <a:ext cx="1143000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7086"/>
                </a:solidFill>
                <a:latin typeface="Microsoft YaHei"/>
                <a:ea typeface="Microsoft YaHei"/>
              </a:rPr>
              <a:t>OCP 公开的 2 MW CDU 规格（Project Deschutes，2025-09 发布 / v1.0 2026-02）；已有多家厂商公开对标该规格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517904"/>
            <a:ext cx="5577840" cy="356616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84048" y="1517904"/>
            <a:ext cx="5577840" cy="457200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" y="1517904"/>
            <a:ext cx="5212080" cy="4572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交付能力项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103120"/>
            <a:ext cx="17830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容量 / 端温差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2103120"/>
            <a:ext cx="33832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2000 kW @ 3℃ ATD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633472"/>
            <a:ext cx="5175504" cy="9144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85216" y="2670048"/>
            <a:ext cx="17830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二次流量 / 压差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2670048"/>
            <a:ext cx="33832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约 500 GPM，二次可用约 80–90 psi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3200400"/>
            <a:ext cx="5175504" cy="9144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85216" y="3236976"/>
            <a:ext cx="17830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泵冗余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1448" y="3236976"/>
            <a:ext cx="33832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N+1（泵及附件），无密封泵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" y="3767328"/>
            <a:ext cx="5175504" cy="9144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85216" y="3803904"/>
            <a:ext cx="17830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电源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41448" y="3803904"/>
            <a:ext cx="33832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至少 1N 冗余，期望 2N；每泵回路独立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4334256"/>
            <a:ext cx="5175504" cy="9144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85216" y="4370832"/>
            <a:ext cx="17830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热插拔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1448" y="4370832"/>
            <a:ext cx="33832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冗余部件须在连续运行中可换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" y="4901184"/>
            <a:ext cx="5175504" cy="9144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236208" y="1517904"/>
            <a:ext cx="5577840" cy="356616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236208" y="1517904"/>
            <a:ext cx="5577840" cy="45720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19088" y="1517904"/>
            <a:ext cx="5212080" cy="4572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流体完整性项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2103120"/>
            <a:ext cx="17830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过滤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2103120"/>
            <a:ext cx="33832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主过滤 25–44 μm + 旁流 0.2 μm（约 3 GPM）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37376" y="2633472"/>
            <a:ext cx="5175504" cy="9144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37376" y="2670048"/>
            <a:ext cx="17830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漏液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2670048"/>
            <a:ext cx="33832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漏液绳 + PLC，分 3 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7376" y="3200400"/>
            <a:ext cx="5175504" cy="9144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37376" y="3236976"/>
            <a:ext cx="17830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排气 / 定压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3236976"/>
            <a:ext cx="33832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Spirovent 气水分离 + 直流式膨胀罐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37376" y="3767328"/>
            <a:ext cx="5175504" cy="9144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37376" y="3803904"/>
            <a:ext cx="17830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压力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3608" y="3803904"/>
            <a:ext cx="33832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工作 0–130 psi，130 psi 泄压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37376" y="4334256"/>
            <a:ext cx="5175504" cy="9144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37376" y="4370832"/>
            <a:ext cx="17830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工质 / 水质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3608" y="4370832"/>
            <a:ext cx="3383280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DI 水与 PG25；在线 pH 与电导率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37376" y="4901184"/>
            <a:ext cx="5175504" cy="9144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384048" y="5193792"/>
            <a:ext cx="11430000" cy="566928"/>
          </a:xfrm>
          <a:prstGeom prst="roundRect">
            <a:avLst>
              <a:gd name="adj" fmla="val 6000"/>
            </a:avLst>
          </a:prstGeom>
          <a:solidFill>
            <a:srgbClr val="EEF5FF"/>
          </a:solidFill>
          <a:ln w="12700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66928" y="5193792"/>
            <a:ext cx="11064240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招标可直接引用的六项：ATD、二次可用压差、泵与电源冗余、两级过滤、漏液分区、在线水质。厂家彩页往往只给冷量 kW。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EEF5FF"/>
          </a:solidFill>
          <a:ln w="12700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把 OCP 这张表当评标模板：同一 600 kW，3℃ 与 8℃ ATD、25 psi 与 80 psi 压差不是同一台机器。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2 章 · 行业规范怎么说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三套液气比、两套比流量：分层引用，禁止拼接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11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70432"/>
            <a:ext cx="3694176" cy="265176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84048" y="1170432"/>
            <a:ext cx="3694176" cy="932688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84048" y="1170432"/>
            <a:ext cx="3694176" cy="9326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70 /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12848"/>
            <a:ext cx="3328416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底座 p.3 通用链路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560320"/>
            <a:ext cx="3328416" cy="11430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内存与 SSD 走风，CPU/GPU 走液；液侧 XDU 60–1350 kW。行业示意。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2816" y="1170432"/>
            <a:ext cx="3694176" cy="265176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242816" y="1170432"/>
            <a:ext cx="3694176" cy="93268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242816" y="1170432"/>
            <a:ext cx="3694176" cy="9326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72 / 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212848"/>
            <a:ext cx="3328416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底座 p.11 SuperPOD 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560320"/>
            <a:ext cx="3328416" cy="11430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每 POD 液 832 kW + 风 320 kW；130 kW 算力柜。参考设计。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1170432"/>
            <a:ext cx="3694176" cy="265176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101583" y="1170432"/>
            <a:ext cx="3694176" cy="93268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01583" y="1170432"/>
            <a:ext cx="3694176" cy="9326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90 /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3" y="2212848"/>
            <a:ext cx="3328416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GB300 OEM 口径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3" y="2560320"/>
            <a:ext cx="3328416" cy="11430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本项目冻结基线。不得据此取消 CRAH，也不得与前两套叠加。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4005072"/>
            <a:ext cx="11430000" cy="5486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8640" y="4005072"/>
            <a:ext cx="137160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比流量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005072"/>
            <a:ext cx="384048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底座 p.10 写 1.0–1.5 L/min·kW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4005072"/>
            <a:ext cx="3977639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Lenovo Table 27 为 0.39–1.18，且须与 25–45℃ 成对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4005072"/>
            <a:ext cx="173736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以 OEM 表为准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4608576"/>
            <a:ext cx="11430000" cy="5486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8640" y="4608576"/>
            <a:ext cx="137160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过滤精度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608576"/>
            <a:ext cx="384048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底座 p.10 写 &lt;50 μm；全球页 50 / 25 μm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4608576"/>
            <a:ext cx="3977639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OCP 主过滤 25–44 μm + 旁流 0.2 μm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4608576"/>
            <a:ext cx="173736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冷板项目取严 25 μm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5212080"/>
            <a:ext cx="11430000" cy="5486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48640" y="5212080"/>
            <a:ext cx="137160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失冷窗口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212080"/>
            <a:ext cx="384048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底座 p.16 写约 90 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5212080"/>
            <a:ext cx="3977639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NVIDIA 未发布官方秒级值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5212080"/>
            <a:ext cx="173736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作设计裕量，不写成认证值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FFF4F3"/>
          </a:solidFill>
          <a:ln w="127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同一份 P&amp;ID 里只能出现一套口径。混用宣传区间与 OEM 查表值，是最常见的评审退回原因。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0058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9BC4E8"/>
                </a:solidFill>
                <a:latin typeface="Microsoft YaHei"/>
                <a:ea typeface="Microsoft YaHei"/>
              </a:rPr>
              <a:t>第 3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产品能否达标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D7E6F5"/>
                </a:solidFill>
                <a:latin typeface="Microsoft YaHei"/>
                <a:ea typeface="Microsoft YaHei"/>
              </a:rPr>
              <a:t>先看架构与输入条件，再看铭牌、二次侧与工厂能力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1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9264" y="5029200"/>
            <a:ext cx="233172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1  为什么重做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5029200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1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58183" y="5029200"/>
            <a:ext cx="233172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2  规范怎么说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029200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47104" y="5029200"/>
            <a:ext cx="233172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3  产品能否达标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5029200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1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36024" y="5029200"/>
            <a:ext cx="233172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4  怎么选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3796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BC4E8"/>
                </a:solidFill>
                <a:latin typeface="Microsoft YaHei"/>
                <a:ea typeface="Microsoft YaHe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3 章 · 产品能否达标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通用链路给出层级，但液气比是 70/30，不是 GB300 口径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13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97280"/>
            <a:ext cx="7269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ai_ready_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72" y="1170432"/>
            <a:ext cx="5946231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422392"/>
            <a:ext cx="7040880" cy="23774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07086"/>
                </a:solidFill>
                <a:latin typeface="Microsoft YaHei"/>
                <a:ea typeface="Microsoft YaHei"/>
              </a:rPr>
              <a:t>原图：液冷底座 p.3「数据中心制冷链路」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097280"/>
            <a:ext cx="3950208" cy="461772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863840" y="1097280"/>
            <a:ext cx="3950208" cy="384048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28431" y="1097280"/>
            <a:ext cx="3657600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1627632"/>
            <a:ext cx="3621024" cy="3977639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08B7A"/>
                </a:solidFill>
                <a:latin typeface="Microsoft YaHei"/>
                <a:ea typeface="Microsoft YaHei"/>
              </a:rPr>
              <a:t>· 机柜：液冷 70% + 风冷 30%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机房：风侧房间 / 列间 / 背板 / 风墙；液侧液液 XDU 60–1350 kW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室外：高温走冷却塔或干冷器，低温走冷机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CDU 在图上正好是 TCS 与 FWS 的分界，本身不是冷源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2700">
            <a:solidFill>
              <a:srgbClr val="A65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这张图适合讲层级与产品覆盖；讲 GB300 保证点时必须换成 90/10。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3 章 · 产品能否达标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架构先分同源 / 非同源，再决定高温自然冷还是低温冷机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14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97280"/>
            <a:ext cx="56235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ai_ready_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93" y="1170432"/>
            <a:ext cx="5235268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88" y="4901184"/>
            <a:ext cx="5440680" cy="21945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07086"/>
                </a:solidFill>
                <a:latin typeface="Microsoft YaHei"/>
                <a:ea typeface="Microsoft YaHei"/>
              </a:rPr>
              <a:t>原图：底座 p.6「冷板液冷系统架构：设计」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097280"/>
            <a:ext cx="56235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ai_ready_p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633" y="1170432"/>
            <a:ext cx="5235268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81928" y="4901184"/>
            <a:ext cx="5440680" cy="21945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07086"/>
                </a:solidFill>
                <a:latin typeface="Microsoft YaHei"/>
                <a:ea typeface="Microsoft YaHei"/>
              </a:rPr>
              <a:t>原图：底座 p.7「高温—低温转换」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5175504"/>
            <a:ext cx="2724912" cy="603504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84048" y="5175504"/>
            <a:ext cx="73152" cy="603504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5175504"/>
            <a:ext cx="86868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8B7A"/>
                </a:solidFill>
                <a:latin typeface="Microsoft YaHei"/>
                <a:ea typeface="Microsoft YaHei"/>
              </a:rPr>
              <a:t>同源高温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7" y="5175504"/>
            <a:ext cx="1572768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82536"/>
                </a:solidFill>
                <a:latin typeface="Microsoft YaHei"/>
                <a:ea typeface="Microsoft YaHei"/>
              </a:rPr>
              <a:t>干冷器 / 冷却塔 + 双冷源 + 液液 CDU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3552" y="5175504"/>
            <a:ext cx="2724912" cy="603504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273552" y="5175504"/>
            <a:ext cx="73152" cy="603504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438144" y="5175504"/>
            <a:ext cx="86868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769E0"/>
                </a:solidFill>
                <a:latin typeface="Microsoft YaHei"/>
                <a:ea typeface="Microsoft YaHei"/>
              </a:rPr>
              <a:t>同源低温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5175504"/>
            <a:ext cx="1572768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82536"/>
                </a:solidFill>
                <a:latin typeface="Microsoft YaHei"/>
                <a:ea typeface="Microsoft YaHei"/>
              </a:rPr>
              <a:t>冷机 20–28℃ 配冷冻水末端；30–38℃ 配水冷末端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5175504"/>
            <a:ext cx="2724912" cy="603504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63056" y="5175504"/>
            <a:ext cx="73152" cy="603504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27648" y="5175504"/>
            <a:ext cx="86868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A65B00"/>
                </a:solidFill>
                <a:latin typeface="Microsoft YaHei"/>
                <a:ea typeface="Microsoft YaHei"/>
              </a:rPr>
              <a:t>无水路线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5175504"/>
            <a:ext cx="1572768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82536"/>
                </a:solidFill>
                <a:latin typeface="Microsoft YaHei"/>
                <a:ea typeface="Microsoft YaHei"/>
              </a:rPr>
              <a:t>风冷冷凝器 + 风机盘管 + 氟液 CDU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5175504"/>
            <a:ext cx="2724912" cy="603504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9052560" y="5175504"/>
            <a:ext cx="73152" cy="603504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217152" y="5175504"/>
            <a:ext cx="86868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3A62"/>
                </a:solidFill>
                <a:latin typeface="Microsoft YaHei"/>
                <a:ea typeface="Microsoft YaHei"/>
              </a:rPr>
              <a:t>非同源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5175504"/>
            <a:ext cx="1572768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82536"/>
                </a:solidFill>
                <a:latin typeface="Microsoft YaHei"/>
                <a:ea typeface="Microsoft YaHei"/>
              </a:rPr>
              <a:t>液冷与风冷各走一套冷源，自由组合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EEF5FF"/>
          </a:solidFill>
          <a:ln w="12700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GB300 生产基线走液液 CDU；氟液无水是另一产品线，右图「二次侧加小冷机」是升级路径不是现状。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3 章 · 产品能否达标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五项设计输入是厂商门槛，OEM 查表值优先级更高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15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97280"/>
            <a:ext cx="7269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ai_ready_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72" y="1170432"/>
            <a:ext cx="5946231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422392"/>
            <a:ext cx="7040880" cy="23774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07086"/>
                </a:solidFill>
                <a:latin typeface="Microsoft YaHei"/>
                <a:ea typeface="Microsoft YaHei"/>
              </a:rPr>
              <a:t>原图：液冷底座 p.10「设计输入条件」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097280"/>
            <a:ext cx="3950208" cy="461772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863840" y="1097280"/>
            <a:ext cx="3950208" cy="384048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28431" y="1097280"/>
            <a:ext cx="3657600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1627632"/>
            <a:ext cx="3621024" cy="3977639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08B7A"/>
                </a:solidFill>
                <a:latin typeface="Microsoft YaHei"/>
                <a:ea typeface="Microsoft YaHei"/>
              </a:rPr>
              <a:t>· 过滤 &lt;50 μm；流体 25–45℃；比流量 1.0–1.5 L/min·kW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工质选择决定冲洗、检测与排气难度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故障维护强调预防与检测，而非事后抢修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热管理链：芯片 → 机柜集热 → 列间集热 → 室外散热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对照：OEM 表 0.39–1.18 L/min·kW；OCP 主过滤 25–44 μm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2700">
            <a:solidFill>
              <a:srgbClr val="A65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这五项适合做厂商准入清单；具体数值以 OEM ICD 与 OCP 指标为准。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3 章 · 产品能否达标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对手卖的是链路：从冷源到柜内歧管都有产品件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16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97280"/>
            <a:ext cx="7269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oolchip_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39" y="1170432"/>
            <a:ext cx="6500897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422392"/>
            <a:ext cx="7040880" cy="23774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07086"/>
                </a:solidFill>
                <a:latin typeface="Microsoft YaHei"/>
                <a:ea typeface="Microsoft YaHei"/>
              </a:rPr>
              <a:t>原图：CoolChip 方案册 p.3–4 跨页（品牌与产品名已去除）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097280"/>
            <a:ext cx="3950208" cy="461772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863840" y="1097280"/>
            <a:ext cx="3950208" cy="384048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28431" y="1097280"/>
            <a:ext cx="3657600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1627632"/>
            <a:ext cx="3621024" cy="3977639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08B7A"/>
                </a:solidFill>
                <a:latin typeface="Microsoft YaHei"/>
                <a:ea typeface="Microsoft YaHei"/>
              </a:rPr>
              <a:t>· 风液共存机房：通用微模块 + 算力微模块 + 浸没试点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链路：冷机 / 冷塔 → 泵 → CDU（集中或分布、风液或液液）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→ 列间不锈钢环管 SFN → 液冷机柜（手插或盲插）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柜内：机柜 + PDU 或直流母排 + In-Rack Manifold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评价这类供应商不能只比 CDU 铭牌 kW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 w="12700">
            <a:solidFill>
              <a:srgbClr val="00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链路完整度是真实竞争力：缺环管、缺换液工装的方案，SAT 阶段才会暴露。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3 章 · 产品能否达标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铭牌能核：L2A 一档 70 kW，L2L 从 4U 直接跳到半柜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17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97280"/>
            <a:ext cx="7269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oolchip_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39" y="1170432"/>
            <a:ext cx="6500897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422392"/>
            <a:ext cx="7040880" cy="23774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07086"/>
                </a:solidFill>
                <a:latin typeface="Microsoft YaHei"/>
                <a:ea typeface="Microsoft YaHei"/>
              </a:rPr>
              <a:t>原图：CoolChip 方案册 p.7–8（柜门标识已遮盖）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097280"/>
            <a:ext cx="3950208" cy="461772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863840" y="1097280"/>
            <a:ext cx="3950208" cy="384048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28431" y="1097280"/>
            <a:ext cx="3657600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1627632"/>
            <a:ext cx="3621024" cy="3977639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08B7A"/>
                </a:solidFill>
                <a:latin typeface="Microsoft YaHei"/>
                <a:ea typeface="Microsoft YaHei"/>
              </a:rPr>
              <a:t>· L2A 70 kW：进风 25℃、供液 42℃，改造与试点用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08B7A"/>
                </a:solidFill>
                <a:latin typeface="Microsoft YaHei"/>
                <a:ea typeface="Microsoft YaHei"/>
              </a:rPr>
              <a:t>· L2L：30 / 121 为矮机架，450 / 600 / 1350 为立柜（1350 三泵）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全系一次 5–40℃、二次 10–45℃；DI 水或 PG25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接口 1″ 到 4″ 卫生卡盘，自动补液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照片上就能看出 121 与 450 之间没有中间机型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2700">
            <a:solidFill>
              <a:srgbClr val="A65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GB300 单柜按 150 kW 选型：121 kW 偏紧，450 kW 浪费，正好落在产品空档里。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3 章 · 产品能否达标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可用性做在二次侧：歧管、环管、故障半径与换液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18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97280"/>
            <a:ext cx="7269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oolchip_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39" y="1170432"/>
            <a:ext cx="6500897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422392"/>
            <a:ext cx="7040880" cy="23774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07086"/>
                </a:solidFill>
                <a:latin typeface="Microsoft YaHei"/>
                <a:ea typeface="Microsoft YaHei"/>
              </a:rPr>
              <a:t>原图：CoolChip 方案册 p.9–10（页眉页脚品牌已去除）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097280"/>
            <a:ext cx="3950208" cy="461772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863840" y="1097280"/>
            <a:ext cx="3950208" cy="384048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28431" y="1097280"/>
            <a:ext cx="3657600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1627632"/>
            <a:ext cx="3621024" cy="3977639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08B7A"/>
                </a:solidFill>
                <a:latin typeface="Microsoft YaHei"/>
                <a:ea typeface="Microsoft YaHei"/>
              </a:rPr>
              <a:t>· 歧管：304 方管，6 / 12 / 18 口，UQD08 / UQD04 / UQDB04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08B7A"/>
                </a:solidFill>
                <a:latin typeface="Microsoft YaHei"/>
                <a:ea typeface="Microsoft YaHei"/>
              </a:rPr>
              <a:t>· 环管 SFN：流量均分、定位漏检、单机柜故障半径、模块预制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机柜：手插 600×1200/1400×2000；盲插整柜 600×1200×2200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移动换液车：在线排 / 充 / 过滤，失压与过压保护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Lenovo GB300 公开 UQDB04，接头族可对，口数仍须 ICD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 w="12700">
            <a:solidFill>
              <a:srgbClr val="00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CDU 冗余只解决单点；故障半径由环管阀门与漏检分区决定，这才是停机范围。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3 章 · 产品能否达标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参考设计已到 7 MW：液气 72/28，单柜 130 kW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19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97280"/>
            <a:ext cx="7269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ai_ready_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72" y="1170432"/>
            <a:ext cx="5946231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422392"/>
            <a:ext cx="7040880" cy="23774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07086"/>
                </a:solidFill>
                <a:latin typeface="Microsoft YaHei"/>
                <a:ea typeface="Microsoft YaHei"/>
              </a:rPr>
              <a:t>原图：液冷底座 p.11「关注 2：成熟的设计方案」（型号标识保留于表内）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097280"/>
            <a:ext cx="3950208" cy="461772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863840" y="1097280"/>
            <a:ext cx="3950208" cy="384048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28431" y="1097280"/>
            <a:ext cx="3657600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1627632"/>
            <a:ext cx="3621024" cy="3977639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08B7A"/>
                </a:solidFill>
                <a:latin typeface="Microsoft YaHei"/>
                <a:ea typeface="Microsoft YaHei"/>
              </a:rPr>
              <a:t>· 6×1.2 MW SuperPOD，总 IT 6912 kW，冷却 N+1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008B7A"/>
                </a:solidFill>
                <a:latin typeface="Microsoft YaHei"/>
                <a:ea typeface="Microsoft YaHei"/>
              </a:rPr>
              <a:t>· 每 POD 1152 kW：液 832 kW（72%）+ 风 320 kW（28%）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48 台 130 kW 算力柜 + 48 台 14 kW 配套柜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CDU 用 1350 级；风侧列间；冷机独立；冷却 UPS 240 kVA 2N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· 供电 4 取 3，算力柜 8 台 33 kVA 电源架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EEF5FF"/>
          </a:solidFill>
          <a:ln w="12700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这是 130 kW 柜的方案，不是 155 kW 柜的方案：搬到 GB300 必须重算台数与 N+1。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3 章 · 产品能否达标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工厂能力：预制到 48 英尺，厂验按 1:1 复制现场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20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97280"/>
            <a:ext cx="562356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ai_ready_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77" y="1170432"/>
            <a:ext cx="5299901" cy="3749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88" y="4956048"/>
            <a:ext cx="5440680" cy="21945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07086"/>
                </a:solidFill>
                <a:latin typeface="Microsoft YaHei"/>
                <a:ea typeface="Microsoft YaHei"/>
              </a:rPr>
              <a:t>原图：底座 p.12「关注 3：快速可靠交付」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097280"/>
            <a:ext cx="562356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ai_ready_p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317" y="1170432"/>
            <a:ext cx="5299901" cy="3749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81928" y="4956048"/>
            <a:ext cx="5440680" cy="21945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07086"/>
                </a:solidFill>
                <a:latin typeface="Microsoft YaHei"/>
                <a:ea typeface="Microsoft YaHei"/>
              </a:rPr>
              <a:t>原图：底座 p.14「实战案例：液冷 SuperPod 项目」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5230368"/>
            <a:ext cx="3694176" cy="5486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84048" y="5230368"/>
            <a:ext cx="73152" cy="54864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5230368"/>
            <a:ext cx="105156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预制单元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7" y="5230368"/>
            <a:ext cx="228600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82536"/>
                </a:solidFill>
                <a:latin typeface="Microsoft YaHei"/>
                <a:ea typeface="Microsoft YaHei"/>
              </a:rPr>
              <a:t>结构 2400×2000 → 单元 3500×2000 → 48 英尺整段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2816" y="5230368"/>
            <a:ext cx="3694176" cy="5486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242816" y="5230368"/>
            <a:ext cx="73152" cy="54864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407407" y="5230368"/>
            <a:ext cx="105156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Microsoft YaHei"/>
                <a:ea typeface="Microsoft YaHei"/>
              </a:rPr>
              <a:t>周期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2975" y="5230368"/>
            <a:ext cx="228600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82536"/>
                </a:solidFill>
                <a:latin typeface="Microsoft YaHei"/>
                <a:ea typeface="Microsoft YaHei"/>
              </a:rPr>
              <a:t>50 MW / 20 POD 宣称 80–120 天，对比行业平均 6 个月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5230368"/>
            <a:ext cx="3694176" cy="5486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101583" y="5230368"/>
            <a:ext cx="73152" cy="548640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66175" y="5230368"/>
            <a:ext cx="105156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3A62"/>
                </a:solidFill>
                <a:latin typeface="Microsoft YaHei"/>
                <a:ea typeface="Microsoft YaHei"/>
              </a:rPr>
              <a:t>厂验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5230368"/>
            <a:ext cx="2286000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82536"/>
                </a:solidFill>
                <a:latin typeface="Microsoft YaHei"/>
                <a:ea typeface="Microsoft YaHei"/>
              </a:rPr>
              <a:t>1.6 MW SuperPOD 1:1 FAT；含缓冲、膨胀、冲洗、减振套件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 w="12700">
            <a:solidFill>
              <a:srgbClr val="00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缓冲罐、膨胀罐、冲洗套件在彩页上不出现，却决定 90 秒窗口与 SAT 能否通过——按 FAT 原图列清单。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3 章 · 产品能否达标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颗粒分布：单柜 150–250 kW 是全行业最薄的一段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21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097280"/>
            <a:ext cx="1143000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7086"/>
                </a:solidFill>
                <a:latin typeface="Microsoft YaHei"/>
                <a:ea typeface="Microsoft YaHei"/>
              </a:rPr>
              <a:t>公开铭牌冷量（未统一端温差，仅示意数量级）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243762"/>
            <a:ext cx="713232" cy="373957"/>
          </a:xfrm>
          <a:prstGeom prst="rect">
            <a:avLst/>
          </a:prstGeom>
          <a:solidFill>
            <a:srgbClr val="607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5488" y="3896290"/>
            <a:ext cx="896112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07086"/>
                </a:solidFill>
                <a:latin typeface="Microsoft YaHei"/>
                <a:ea typeface="Microsoft YaHei"/>
              </a:rPr>
              <a:t>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4690872"/>
            <a:ext cx="1042415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07086"/>
                </a:solidFill>
                <a:latin typeface="Microsoft YaHei"/>
                <a:ea typeface="Microsoft YaHei"/>
              </a:rPr>
              <a:t>L2A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3881112"/>
            <a:ext cx="713232" cy="736607"/>
          </a:xfrm>
          <a:prstGeom prst="rect">
            <a:avLst/>
          </a:prstGeom>
          <a:solidFill>
            <a:srgbClr val="607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508760" y="3533640"/>
            <a:ext cx="896112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07086"/>
                </a:solidFill>
                <a:latin typeface="Microsoft YaHei"/>
                <a:ea typeface="Microsoft YaHei"/>
              </a:rPr>
              <a:t>121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4690872"/>
            <a:ext cx="1042415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07086"/>
                </a:solidFill>
                <a:latin typeface="Microsoft YaHei"/>
                <a:ea typeface="Microsoft YaHei"/>
              </a:rPr>
              <a:t>矮机架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33472" y="3738750"/>
            <a:ext cx="713232" cy="878969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542032" y="3391278"/>
            <a:ext cx="896112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B42318"/>
                </a:solidFill>
                <a:latin typeface="Microsoft YaHei"/>
                <a:ea typeface="Microsoft YaHei"/>
              </a:rPr>
              <a:t>150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79" y="4690872"/>
            <a:ext cx="1042415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07086"/>
                </a:solidFill>
                <a:latin typeface="Microsoft YaHei"/>
                <a:ea typeface="Microsoft YaHei"/>
              </a:rPr>
              <a:t>GB300 单柜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66744" y="3548126"/>
            <a:ext cx="713232" cy="1069593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575303" y="3200654"/>
            <a:ext cx="896112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1" y="4690872"/>
            <a:ext cx="1042415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07086"/>
                </a:solidFill>
                <a:latin typeface="Microsoft YaHei"/>
                <a:ea typeface="Microsoft YaHei"/>
              </a:rPr>
              <a:t>CHx200 4U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0016" y="3006382"/>
            <a:ext cx="713232" cy="1611337"/>
          </a:xfrm>
          <a:prstGeom prst="rect">
            <a:avLst/>
          </a:prstGeom>
          <a:solidFill>
            <a:srgbClr val="607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608576" y="2658910"/>
            <a:ext cx="896112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07086"/>
                </a:solidFill>
                <a:latin typeface="Microsoft YaHei"/>
                <a:ea typeface="Microsoft YaHei"/>
              </a:rPr>
              <a:t>450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4690872"/>
            <a:ext cx="1042415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07086"/>
                </a:solidFill>
                <a:latin typeface="Microsoft YaHei"/>
                <a:ea typeface="Microsoft YaHei"/>
              </a:rPr>
              <a:t>立柜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33288" y="2820160"/>
            <a:ext cx="713232" cy="1797559"/>
          </a:xfrm>
          <a:prstGeom prst="rect">
            <a:avLst/>
          </a:prstGeom>
          <a:solidFill>
            <a:srgbClr val="607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641848" y="2472688"/>
            <a:ext cx="896112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07086"/>
                </a:solidFill>
                <a:latin typeface="Microsoft YaHei"/>
                <a:ea typeface="Microsoft YaHei"/>
              </a:rPr>
              <a:t>600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68696" y="4690872"/>
            <a:ext cx="1042415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07086"/>
                </a:solidFill>
                <a:latin typeface="Microsoft YaHei"/>
                <a:ea typeface="Microsoft YaHei"/>
              </a:rPr>
              <a:t>立柜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59" y="2629535"/>
            <a:ext cx="713232" cy="1988184"/>
          </a:xfrm>
          <a:prstGeom prst="rect">
            <a:avLst/>
          </a:prstGeom>
          <a:solidFill>
            <a:srgbClr val="607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675120" y="2282063"/>
            <a:ext cx="896112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07086"/>
                </a:solidFill>
                <a:latin typeface="Microsoft YaHei"/>
                <a:ea typeface="Microsoft YaHei"/>
              </a:rPr>
              <a:t>800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4690872"/>
            <a:ext cx="1042415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07086"/>
                </a:solidFill>
                <a:latin typeface="Microsoft YaHei"/>
                <a:ea typeface="Microsoft YaHei"/>
              </a:rPr>
              <a:t>行级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99831" y="2274042"/>
            <a:ext cx="713232" cy="2343677"/>
          </a:xfrm>
          <a:prstGeom prst="rect">
            <a:avLst/>
          </a:prstGeom>
          <a:solidFill>
            <a:srgbClr val="607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08392" y="1926570"/>
            <a:ext cx="896112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07086"/>
                </a:solidFill>
                <a:latin typeface="Microsoft YaHei"/>
                <a:ea typeface="Microsoft YaHei"/>
              </a:rPr>
              <a:t>1350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4690872"/>
            <a:ext cx="1042415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07086"/>
                </a:solidFill>
                <a:latin typeface="Microsoft YaHei"/>
                <a:ea typeface="Microsoft YaHei"/>
              </a:rPr>
              <a:t>行级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33103" y="2022380"/>
            <a:ext cx="713232" cy="2595339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741663" y="1674908"/>
            <a:ext cx="896112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Microsoft YaHei"/>
                <a:ea typeface="Microsoft YaHei"/>
              </a:rPr>
              <a:t>2000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8511" y="4690872"/>
            <a:ext cx="1042415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07086"/>
                </a:solidFill>
                <a:latin typeface="Microsoft YaHei"/>
                <a:ea typeface="Microsoft YaHei"/>
              </a:rPr>
              <a:t>OCP 2 MW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66375" y="1929770"/>
            <a:ext cx="713232" cy="2687949"/>
          </a:xfrm>
          <a:prstGeom prst="rect">
            <a:avLst/>
          </a:prstGeom>
          <a:solidFill>
            <a:srgbClr val="607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774935" y="1582298"/>
            <a:ext cx="896112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07086"/>
                </a:solidFill>
                <a:latin typeface="Microsoft YaHei"/>
                <a:ea typeface="Microsoft YaHei"/>
              </a:rPr>
              <a:t>2300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01783" y="4690872"/>
            <a:ext cx="1042415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07086"/>
                </a:solidFill>
                <a:latin typeface="Microsoft YaHei"/>
                <a:ea typeface="Microsoft YaHei"/>
              </a:rPr>
              <a:t>顶档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99647" y="1874520"/>
            <a:ext cx="713232" cy="2743199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808207" y="1527048"/>
            <a:ext cx="896112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A65B00"/>
                </a:solidFill>
                <a:latin typeface="Microsoft YaHei"/>
                <a:ea typeface="Microsoft YaHei"/>
              </a:rPr>
              <a:t>2500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35055" y="4690872"/>
            <a:ext cx="1042415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07086"/>
                </a:solidFill>
                <a:latin typeface="Microsoft YaHei"/>
                <a:ea typeface="Microsoft YaHei"/>
              </a:rPr>
              <a:t>超大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617720"/>
            <a:ext cx="11247120" cy="18288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384048" y="5138928"/>
            <a:ext cx="5623560" cy="621792"/>
          </a:xfrm>
          <a:prstGeom prst="roundRect">
            <a:avLst>
              <a:gd name="adj" fmla="val 6000"/>
            </a:avLst>
          </a:prstGeom>
          <a:solidFill>
            <a:srgbClr val="FFF4F3"/>
          </a:solidFill>
          <a:ln w="127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6928" y="5138928"/>
            <a:ext cx="5303520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空档：中国册 121 → 450，中间无行级 SKU；GB300 单柜正在此段。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0488" y="5138928"/>
            <a:ext cx="5623560" cy="621792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 w="12700">
            <a:solidFill>
              <a:srgbClr val="00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373368" y="5138928"/>
            <a:ext cx="5303520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补位者：CoolIT CHx200（200 kW / 4U）、柜内 250 kW 路线。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FFF4F3"/>
          </a:solidFill>
          <a:ln w="127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选型别被两头的大数字带走：工厂颗粒已到 2–2.5 MW，真正缺的是单柜 200 kW 级成熟机型。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3 章 · 产品能否达标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竞品各占一段：单柜、行级、超大与国产总包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22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43000"/>
            <a:ext cx="11430000" cy="91440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84048" y="1143000"/>
            <a:ext cx="82296" cy="91440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1143000"/>
            <a:ext cx="1371600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8B7A"/>
                </a:solidFill>
                <a:latin typeface="Microsoft YaHei"/>
                <a:ea typeface="Microsoft YaHei"/>
              </a:rPr>
              <a:t>链路最全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234440"/>
            <a:ext cx="1965960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748"/>
                </a:solidFill>
                <a:latin typeface="Microsoft YaHei"/>
                <a:ea typeface="Microsoft YaHei"/>
              </a:rPr>
              <a:t>CoolChip 系列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216152"/>
            <a:ext cx="489204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82536"/>
                </a:solidFill>
                <a:latin typeface="Microsoft YaHei"/>
                <a:ea typeface="Microsoft YaHei"/>
              </a:rPr>
              <a:t>L2A 70；L2L 100/121/450/600/1350/2300（4℃ ATD）。柜、歧管、环管、换液、补冷同族。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216152"/>
            <a:ext cx="251460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07086"/>
                </a:solidFill>
                <a:latin typeface="Microsoft YaHei"/>
                <a:ea typeface="Microsoft YaHei"/>
              </a:rPr>
              <a:t>Modbus 为主，Redfish 需网关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2121408"/>
            <a:ext cx="11430000" cy="91440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84048" y="2121408"/>
            <a:ext cx="82296" cy="91440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2121408"/>
            <a:ext cx="1371600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69E0"/>
                </a:solidFill>
                <a:latin typeface="Microsoft YaHei"/>
                <a:ea typeface="Microsoft YaHei"/>
              </a:rPr>
              <a:t>单柜补位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212848"/>
            <a:ext cx="1965960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748"/>
                </a:solidFill>
                <a:latin typeface="Microsoft YaHei"/>
                <a:ea typeface="Microsoft YaHei"/>
              </a:rPr>
              <a:t>CoolIT CHx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194560"/>
            <a:ext cx="489204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82536"/>
                </a:solidFill>
                <a:latin typeface="Microsoft YaHei"/>
                <a:ea typeface="Microsoft YaHei"/>
              </a:rPr>
              <a:t>CHx200 200 kW / 4U；CHx1500 1364 kW；CHx2000 2000 kW @5℃ ATD、750×1200。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94560"/>
            <a:ext cx="251460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07086"/>
                </a:solidFill>
                <a:latin typeface="Microsoft YaHei"/>
                <a:ea typeface="Microsoft YaHei"/>
              </a:rPr>
              <a:t>宣称单台带 12×GB300，仍须 N+1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3099816"/>
            <a:ext cx="11430000" cy="91440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84048" y="3099816"/>
            <a:ext cx="82296" cy="914400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66928" y="3099816"/>
            <a:ext cx="1371600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3A62"/>
                </a:solidFill>
                <a:latin typeface="Microsoft YaHei"/>
                <a:ea typeface="Microsoft YaHei"/>
              </a:rPr>
              <a:t>超大颗粒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191256"/>
            <a:ext cx="1965960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748"/>
                </a:solidFill>
                <a:latin typeface="Microsoft YaHei"/>
                <a:ea typeface="Microsoft YaHei"/>
              </a:rPr>
              <a:t>Schneider · Motivair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3172968"/>
            <a:ext cx="489204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82536"/>
                </a:solidFill>
                <a:latin typeface="Microsoft YaHei"/>
                <a:ea typeface="Microsoft YaHei"/>
              </a:rPr>
              <a:t>MCDU-70 单台 2.5 MW，六台 4+2 可撑 10 MW；线宽 105 kW–2.5 MW。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172968"/>
            <a:ext cx="251460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07086"/>
                </a:solidFill>
                <a:latin typeface="Microsoft YaHei"/>
                <a:ea typeface="Microsoft YaHei"/>
              </a:rPr>
              <a:t>不补单柜 200 kW 空档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4078224"/>
            <a:ext cx="11430000" cy="91440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84048" y="4078224"/>
            <a:ext cx="82296" cy="91440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66928" y="4078224"/>
            <a:ext cx="1371600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A65B00"/>
                </a:solidFill>
                <a:latin typeface="Microsoft YaHei"/>
                <a:ea typeface="Microsoft YaHei"/>
              </a:rPr>
              <a:t>国产全链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169664"/>
            <a:ext cx="1965960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748"/>
                </a:solidFill>
                <a:latin typeface="Microsoft YaHei"/>
                <a:ea typeface="Microsoft YaHei"/>
              </a:rPr>
              <a:t>英维克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4151376"/>
            <a:ext cx="489204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82536"/>
                </a:solidFill>
                <a:latin typeface="Microsoft YaHei"/>
                <a:ea typeface="Microsoft YaHei"/>
              </a:rPr>
              <a:t>机架 15–115 kW、机柜 50–1800 kW；漏检 0.1 mL/min；NVIDIA NPN Tier1；2 MW 对标 OCP。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151376"/>
            <a:ext cx="251460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07086"/>
                </a:solidFill>
                <a:latin typeface="Microsoft YaHei"/>
                <a:ea typeface="Microsoft YaHei"/>
              </a:rPr>
              <a:t>份额与认证以厂商披露为准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5056632"/>
            <a:ext cx="11430000" cy="91440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384048" y="5056632"/>
            <a:ext cx="82296" cy="914400"/>
          </a:xfrm>
          <a:prstGeom prst="rect">
            <a:avLst/>
          </a:prstGeom>
          <a:solidFill>
            <a:srgbClr val="607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5056632"/>
            <a:ext cx="1371600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07086"/>
                </a:solidFill>
                <a:latin typeface="Microsoft YaHei"/>
                <a:ea typeface="Microsoft YaHei"/>
              </a:rPr>
              <a:t>国产总包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148072"/>
            <a:ext cx="1965960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748"/>
                </a:solidFill>
                <a:latin typeface="Microsoft YaHei"/>
                <a:ea typeface="Microsoft YaHei"/>
              </a:rPr>
              <a:t>申菱 · 华为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80" y="5129784"/>
            <a:ext cx="489204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82536"/>
                </a:solidFill>
                <a:latin typeface="Microsoft YaHei"/>
                <a:ea typeface="Microsoft YaHei"/>
              </a:rPr>
              <a:t>申菱 CDU300 支持 150 kW 柜；华为 L450MA 450/360 kW、二次 270 目、扬程 250/180 kPa。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129784"/>
            <a:ext cx="251460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07086"/>
                </a:solidFill>
                <a:latin typeface="Microsoft YaHei"/>
                <a:ea typeface="Microsoft YaHei"/>
              </a:rPr>
              <a:t>华为二次侧常用 EG，与 PG25 不同表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EEF5FF"/>
          </a:solidFill>
          <a:ln w="12700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横比前先统一四项：端温差、工质、两侧流量与压差、过滤精度。裸 kW 对比没有意义。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3 章 · 产品能否达标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市场结构：头部集中，价值量集中在冷板、快接头与 CDU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23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097280"/>
            <a:ext cx="1143000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07086"/>
                </a:solidFill>
                <a:latin typeface="Microsoft YaHei"/>
                <a:ea typeface="Microsoft YaHei"/>
              </a:rPr>
              <a:t>以下为第三方研究与财经媒体口径（2025–2026），非审计数据，用于判断供应格局，不作商务依据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463040"/>
            <a:ext cx="2724912" cy="160020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84048" y="1463040"/>
            <a:ext cx="2724912" cy="54864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8640" y="1609344"/>
            <a:ext cx="2395728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2748"/>
                </a:solidFill>
                <a:latin typeface="Microsoft YaHei"/>
                <a:ea typeface="Microsoft YaHei"/>
              </a:rPr>
              <a:t>CDU 全球第一梯队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20240"/>
            <a:ext cx="2395728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8B7A"/>
                </a:solidFill>
                <a:latin typeface="Microsoft YaHei"/>
                <a:ea typeface="Microsoft YaHei"/>
              </a:rPr>
              <a:t>约 29.6%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87168"/>
            <a:ext cx="2395728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7086"/>
                </a:solidFill>
                <a:latin typeface="Microsoft YaHei"/>
                <a:ea typeface="Microsoft YaHei"/>
              </a:rPr>
              <a:t>CDU 细分份额，2025 口径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73552" y="1463040"/>
            <a:ext cx="2724912" cy="160020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273552" y="1463040"/>
            <a:ext cx="2724912" cy="54864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438144" y="1609344"/>
            <a:ext cx="2395728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2748"/>
                </a:solidFill>
                <a:latin typeface="Microsoft YaHei"/>
                <a:ea typeface="Microsoft YaHei"/>
              </a:rPr>
              <a:t>国产 CDU 龙头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8144" y="1920240"/>
            <a:ext cx="2395728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69E0"/>
                </a:solidFill>
                <a:latin typeface="Microsoft YaHei"/>
                <a:ea typeface="Microsoft YaHei"/>
              </a:rPr>
              <a:t>约 9.5%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8144" y="2487168"/>
            <a:ext cx="2395728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7086"/>
                </a:solidFill>
                <a:latin typeface="Microsoft YaHei"/>
                <a:ea typeface="Microsoft YaHei"/>
              </a:rPr>
              <a:t>全球 CDU 份额，已获 NPN Tier1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1463040"/>
            <a:ext cx="2724912" cy="160020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63056" y="1463040"/>
            <a:ext cx="2724912" cy="54864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27648" y="1609344"/>
            <a:ext cx="2395728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2748"/>
                </a:solidFill>
                <a:latin typeface="Microsoft YaHei"/>
                <a:ea typeface="Microsoft YaHei"/>
              </a:rPr>
              <a:t>前五厂商合计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1920240"/>
            <a:ext cx="2395728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3A62"/>
                </a:solidFill>
                <a:latin typeface="Microsoft YaHei"/>
                <a:ea typeface="Microsoft YaHei"/>
              </a:rPr>
              <a:t>近 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487168"/>
            <a:ext cx="2395728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7086"/>
                </a:solidFill>
                <a:latin typeface="Microsoft YaHei"/>
                <a:ea typeface="Microsoft YaHei"/>
              </a:rPr>
              <a:t>全球数据中心 CDU 集中度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463040"/>
            <a:ext cx="2724912" cy="160020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052560" y="1463040"/>
            <a:ext cx="2724912" cy="54864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217152" y="1609344"/>
            <a:ext cx="2395728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2748"/>
                </a:solidFill>
                <a:latin typeface="Microsoft YaHei"/>
                <a:ea typeface="Microsoft YaHei"/>
              </a:rPr>
              <a:t>国内智算 CDU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1920240"/>
            <a:ext cx="2395728" cy="5029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A65B00"/>
                </a:solidFill>
                <a:latin typeface="Microsoft YaHei"/>
                <a:ea typeface="Microsoft YaHei"/>
              </a:rPr>
              <a:t>排名第一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2487168"/>
            <a:ext cx="2395728" cy="502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7086"/>
                </a:solidFill>
                <a:latin typeface="Microsoft YaHei"/>
                <a:ea typeface="Microsoft YaHei"/>
              </a:rPr>
              <a:t>赛迪 2024 中国液冷数据中心口径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3310128"/>
            <a:ext cx="11430000" cy="2926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冷板液冷系统成本结构（研究口径）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3675887"/>
            <a:ext cx="3657600" cy="65836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84048" y="3675887"/>
            <a:ext cx="365760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冷板 32%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41648" y="3675887"/>
            <a:ext cx="3200400" cy="658368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041648" y="3675887"/>
            <a:ext cx="320040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快接头 28%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42048" y="3675887"/>
            <a:ext cx="2857500" cy="658368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242048" y="3675887"/>
            <a:ext cx="285750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CDU 25%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99548" y="3675887"/>
            <a:ext cx="1143000" cy="658368"/>
          </a:xfrm>
          <a:prstGeom prst="rect">
            <a:avLst/>
          </a:prstGeom>
          <a:solidFill>
            <a:srgbClr val="607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099548" y="3675887"/>
            <a:ext cx="114300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管阀件 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242548" y="3675887"/>
            <a:ext cx="571500" cy="658368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1242548" y="3675887"/>
            <a:ext cx="57150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冷却液 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526280"/>
            <a:ext cx="11247120" cy="12344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· CDU 只占系统价值约四分之一，冷板与快接头合计 60%——只谈 CDU 品牌会漏掉一半风险。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· 头部集中意味着交付档期与产能优先级本身就是选型变量，不只是价格。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· 国产厂商已从部件走向系统总包，并出现对标 OCP 2 MW 的机型，可作双源策略备选。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EEF5FF"/>
          </a:solidFill>
          <a:ln w="12700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供应策略与技术选型同权：单柜级选成熟机型，工厂级留双源，接头与冷板要单独立规。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0058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9BC4E8"/>
                </a:solidFill>
                <a:latin typeface="Microsoft YaHei"/>
                <a:ea typeface="Microsoft YaHei"/>
              </a:rPr>
              <a:t>第 4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怎么选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D7E6F5"/>
                </a:solidFill>
                <a:latin typeface="Microsoft YaHei"/>
                <a:ea typeface="Microsoft YaHei"/>
              </a:rPr>
              <a:t>按场景定形态，按 OEM 校核，按禁止事项守住底线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1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9264" y="5029200"/>
            <a:ext cx="233172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1  为什么重做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5029200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1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58183" y="5029200"/>
            <a:ext cx="233172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2  规范怎么说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029200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1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47104" y="5029200"/>
            <a:ext cx="233172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3  产品能否达标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5029200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36024" y="5029200"/>
            <a:ext cx="2331720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4  怎么选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3796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9BC4E8"/>
                </a:solidFill>
                <a:latin typeface="Microsoft YaHei"/>
                <a:ea typeface="Microsoft YaHe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4 章 · 怎么选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按场景选形态，不按品牌口号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25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170432"/>
            <a:ext cx="11430000" cy="512064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170432"/>
            <a:ext cx="3017520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170432"/>
            <a:ext cx="2651760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推荐形态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70432"/>
            <a:ext cx="2286000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公开颗粒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170432"/>
            <a:ext cx="2880360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禁止事项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1737360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1737360"/>
            <a:ext cx="301752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实验室 / 风改液 / 无一次水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737360"/>
            <a:ext cx="265176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L2A 列间或侧车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228600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07086"/>
                </a:solidFill>
                <a:latin typeface="Microsoft YaHei"/>
                <a:ea typeface="Microsoft YaHei"/>
              </a:rPr>
              <a:t>70 kW 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737360"/>
            <a:ext cx="288036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42318"/>
                </a:solidFill>
                <a:latin typeface="Microsoft YaHei"/>
                <a:ea typeface="Microsoft YaHei"/>
              </a:rPr>
              <a:t>不得用 L2A 承诺满配训练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2560320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2560320"/>
            <a:ext cx="301752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单柜或 1+1 生产柜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560320"/>
            <a:ext cx="265176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200–250 kW L2L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60320"/>
            <a:ext cx="228600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07086"/>
                </a:solidFill>
                <a:latin typeface="Microsoft YaHei"/>
                <a:ea typeface="Microsoft YaHei"/>
              </a:rPr>
              <a:t>CHx200、柜内 250 kW 路线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560320"/>
            <a:ext cx="288036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42318"/>
                </a:solidFill>
                <a:latin typeface="Microsoft YaHei"/>
                <a:ea typeface="Microsoft YaHei"/>
              </a:rPr>
              <a:t>不得用 121 kW 硬扛 155 kW 峰值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3383279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8640" y="3383279"/>
            <a:ext cx="301752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单列 2–4 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383279"/>
            <a:ext cx="265176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450–800 kW 列间 + N+1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83279"/>
            <a:ext cx="228600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07086"/>
                </a:solidFill>
                <a:latin typeface="Microsoft YaHei"/>
                <a:ea typeface="Microsoft YaHei"/>
              </a:rPr>
              <a:t>450 / 600 / 800 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383279"/>
            <a:ext cx="288036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42318"/>
                </a:solidFill>
                <a:latin typeface="Microsoft YaHei"/>
                <a:ea typeface="Microsoft YaHei"/>
              </a:rPr>
              <a:t>不得一台 450 带 4 柜且无备机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4206240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8640" y="4206240"/>
            <a:ext cx="301752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SuperPOD 约 8 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06240"/>
            <a:ext cx="265176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1.3–2.5 MW 行级 + 群控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206240"/>
            <a:ext cx="228600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07086"/>
                </a:solidFill>
                <a:latin typeface="Microsoft YaHei"/>
                <a:ea typeface="Microsoft YaHei"/>
              </a:rPr>
              <a:t>1350 / 2000 / 2300 / 2500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206240"/>
            <a:ext cx="288036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42318"/>
                </a:solidFill>
                <a:latin typeface="Microsoft YaHei"/>
                <a:ea typeface="Microsoft YaHei"/>
              </a:rPr>
              <a:t>不得用「一台带 8 柜」替代 N+1 计算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5029200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48640" y="5029200"/>
            <a:ext cx="301752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国内设计院出图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029200"/>
            <a:ext cx="265176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上述硬件 + GB 50174 A 级 + 行标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029200"/>
            <a:ext cx="228600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07086"/>
                </a:solidFill>
                <a:latin typeface="Microsoft YaHei"/>
                <a:ea typeface="Microsoft YaHei"/>
              </a:rPr>
              <a:t>均流 ≤10%、换热 95%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5029200"/>
            <a:ext cx="2880360" cy="7772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42318"/>
                </a:solidFill>
                <a:latin typeface="Microsoft YaHei"/>
                <a:ea typeface="Microsoft YaHei"/>
              </a:rPr>
              <a:t>不得只贴英文页，须给国标条款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 w="12700">
            <a:solidFill>
              <a:srgbClr val="00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先确定场景与故障域，再挑颗粒：同一 kW 在不同场景里对应完全不同的冗余与管网做法。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4 章 · 怎么选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对 GB300 逐项校核：能力对得上，颗粒与口径要换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26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133856"/>
            <a:ext cx="11430000" cy="475488"/>
          </a:xfrm>
          <a:prstGeom prst="rect">
            <a:avLst/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133856"/>
            <a:ext cx="1828800" cy="4754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校核项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133856"/>
            <a:ext cx="3017520" cy="4754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GB300 冻结口径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133856"/>
            <a:ext cx="4206240" cy="4754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产品族能力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1133856"/>
            <a:ext cx="1783080" cy="4754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1664208"/>
            <a:ext cx="11430000" cy="58521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1664208"/>
            <a:ext cx="182880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单柜功率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1664208"/>
            <a:ext cx="301752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155 kW 峰值包络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664208"/>
            <a:ext cx="420624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L2L 支持 100 kW+；121 偏紧、450 浪费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1664208"/>
            <a:ext cx="178308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42318"/>
                </a:solidFill>
                <a:latin typeface="Microsoft YaHei"/>
                <a:ea typeface="Microsoft YaHei"/>
              </a:rPr>
              <a:t>换颗粒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2295144"/>
            <a:ext cx="11430000" cy="58521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2295144"/>
            <a:ext cx="182880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液 / 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295144"/>
            <a:ext cx="301752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90 / 10，风侧必留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295144"/>
            <a:ext cx="420624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冷板 50–95% + 补冷三组合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295144"/>
            <a:ext cx="178308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42318"/>
                </a:solidFill>
                <a:latin typeface="Microsoft YaHei"/>
                <a:ea typeface="Microsoft YaHei"/>
              </a:rPr>
              <a:t>换口径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2926079"/>
            <a:ext cx="11430000" cy="58521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8640" y="2926079"/>
            <a:ext cx="182880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水温与流量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2926079"/>
            <a:ext cx="301752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25–45℃ 成对查表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926079"/>
            <a:ext cx="420624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二次侧产品窗 10–45℃ 可覆盖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926079"/>
            <a:ext cx="178308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对齐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3557015"/>
            <a:ext cx="11430000" cy="58521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8640" y="3557015"/>
            <a:ext cx="182880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工质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3557015"/>
            <a:ext cx="301752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DI 或 PG25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557015"/>
            <a:ext cx="420624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DI、25% 丙二醇及兼容液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557015"/>
            <a:ext cx="178308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对齐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4187952"/>
            <a:ext cx="11430000" cy="58521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48640" y="4187952"/>
            <a:ext cx="182880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漏液联锁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4187952"/>
            <a:ext cx="301752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Tray + Rack 触点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4187952"/>
            <a:ext cx="420624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柜 + CDU + 环管全路径监测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4187952"/>
            <a:ext cx="178308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65B00"/>
                </a:solidFill>
                <a:latin typeface="Microsoft YaHei"/>
                <a:ea typeface="Microsoft YaHei"/>
              </a:rPr>
              <a:t>需硬接线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" y="4818888"/>
            <a:ext cx="11430000" cy="58521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48640" y="4818888"/>
            <a:ext cx="182880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接头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818888"/>
            <a:ext cx="301752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盲插 UQDB04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4818888"/>
            <a:ext cx="420624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UQD08 / UQD04 / UQDB04 可选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4818888"/>
            <a:ext cx="178308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65B00"/>
                </a:solidFill>
                <a:latin typeface="Microsoft YaHei"/>
                <a:ea typeface="Microsoft YaHei"/>
              </a:rPr>
              <a:t>口数待 ICD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4048" y="5449823"/>
            <a:ext cx="11430000" cy="58521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5449823"/>
            <a:ext cx="182880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748"/>
                </a:solidFill>
                <a:latin typeface="Microsoft YaHei"/>
                <a:ea typeface="Microsoft YaHei"/>
              </a:rPr>
              <a:t>可用性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5449823"/>
            <a:ext cx="301752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A 级 / Tier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5449823"/>
            <a:ext cx="420624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双泵双电源 + 环管单柜故障半径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5449823"/>
            <a:ext cx="1783080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65B00"/>
                </a:solidFill>
                <a:latin typeface="Microsoft YaHei"/>
                <a:ea typeface="Microsoft YaHei"/>
              </a:rPr>
              <a:t>补 CDU 列 N+1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EEF5FF"/>
          </a:solidFill>
          <a:ln w="12700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七项里四项要动作：换颗粒、换口径、硬接联锁、补列级冗余。能力不是问题，配置是。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10607040" cy="256032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第 4 章 · 怎么选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5303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四条禁止事项 + 四项待办，收口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950976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行业液冷产品对标分析 v2.0  ·  原图已去厂家铭牌  ·  对标解读，不替代 OEM ICD 与厂家选型单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C6D6E4"/>
                </a:solidFill>
                <a:latin typeface="Microsoft YaHei"/>
                <a:ea typeface="Microsoft YaHei"/>
              </a:rPr>
              <a:t>27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115568"/>
            <a:ext cx="562356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2318"/>
                </a:solidFill>
                <a:latin typeface="Microsoft YaHei"/>
                <a:ea typeface="Microsoft YaHei"/>
              </a:rPr>
              <a:t>禁止事项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463040"/>
            <a:ext cx="5623560" cy="2240280"/>
          </a:xfrm>
          <a:prstGeom prst="roundRect">
            <a:avLst>
              <a:gd name="adj" fmla="val 6000"/>
            </a:avLst>
          </a:prstGeom>
          <a:solidFill>
            <a:srgbClr val="FFF4F3"/>
          </a:solidFill>
          <a:ln w="127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1627632"/>
            <a:ext cx="5257800" cy="19659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· 把宣传冷量相加，或用裸 kW 横比不同 ATD 的机型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· 用 70/30 或 72/28 替换 GB300 的 90/10，据此取消风侧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· 用 1.0–1.5 L/min·kW 反代 OEM Table 27 的查表流量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· 把「一台 CDU 带 8 或 12 柜」的宣传当作 N+1 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1115568"/>
            <a:ext cx="562356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8B7A"/>
                </a:solidFill>
                <a:latin typeface="Microsoft YaHei"/>
                <a:ea typeface="Microsoft YaHei"/>
              </a:rPr>
              <a:t>待办与待补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63040"/>
            <a:ext cx="5623560" cy="2240280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 w="12700">
            <a:solidFill>
              <a:srgbClr val="00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73368" y="1627632"/>
            <a:ext cx="5257800" cy="19659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· 取授权数据表：二次扬程、精确过滤目数、群控点数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· 按 OCP 六项写评标模板，锁 ATD 与压差工况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· 单柜 200 kW 级做双源比对，含国产对标机型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82536"/>
                </a:solidFill>
                <a:latin typeface="Microsoft YaHei"/>
                <a:ea typeface="Microsoft YaHei"/>
              </a:rPr>
              <a:t>· 把缓冲、膨胀、冲洗、换液口写进 P&amp;ID 与 FAT 清单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840480"/>
            <a:ext cx="11430000" cy="31089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748"/>
                </a:solidFill>
                <a:latin typeface="Microsoft YaHei"/>
                <a:ea typeface="Microsoft YaHei"/>
              </a:rPr>
              <a:t>材料与置信度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4206240"/>
            <a:ext cx="11430000" cy="512064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914400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8B7A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06240"/>
            <a:ext cx="10058400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两份原图（按页渲染核对）、OCP Deschutes 规格、ASHRAE W 类定义、Lenovo LP2357、厂商数据表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754879"/>
            <a:ext cx="11430000" cy="512064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4754879"/>
            <a:ext cx="914400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69E0"/>
                </a:solidFill>
                <a:latin typeface="Microsoft YaHei"/>
                <a:ea typeface="Microsoft YaHei"/>
              </a:rPr>
              <a:t>中高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754879"/>
            <a:ext cx="10058400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官方新闻稿与官网产品页（口径随时间变动，须按发布日引用）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5303519"/>
            <a:ext cx="11430000" cy="512064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5303519"/>
            <a:ext cx="914400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A65B00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03519"/>
            <a:ext cx="10058400" cy="5120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媒体转述的份额、成本结构与「单台带 N 柜」类表述，仅作格局判断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5870448"/>
            <a:ext cx="11430000" cy="603504"/>
          </a:xfrm>
          <a:prstGeom prst="roundRect">
            <a:avLst>
              <a:gd name="adj" fmla="val 6000"/>
            </a:avLst>
          </a:prstGeom>
          <a:solidFill>
            <a:srgbClr val="EEF5FF"/>
          </a:solidFill>
          <a:ln w="12700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384048" y="5870448"/>
            <a:ext cx="82296" cy="603504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792" y="5870448"/>
            <a:ext cx="11064240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82536"/>
                </a:solidFill>
                <a:latin typeface="Microsoft YaHei"/>
                <a:ea typeface="Microsoft YaHei"/>
              </a:rPr>
              <a:t>结论可直接进选型评审；进采购保证前，须由 OEM ICD 与厂家授权数据表逐项复核。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