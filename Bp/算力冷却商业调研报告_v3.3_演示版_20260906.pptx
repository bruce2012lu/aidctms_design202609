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969" cy="91440"/>
          </a:xfrm>
          <a:prstGeom prst="rect">
            <a:avLst/>
          </a:prstGeom>
          <a:solidFill>
            <a:srgbClr val="08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777240"/>
            <a:ext cx="1005840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8FB4E8"/>
                </a:solidFill>
                <a:latin typeface="Microsoft YaHei"/>
              </a:rPr>
              <a:t>Commercial Research Report · 演示版 / 20260906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10424160" cy="10515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4400" b="1" i="0">
                <a:solidFill>
                  <a:srgbClr val="FFFFFF"/>
                </a:solidFill>
                <a:latin typeface="Microsoft YaHei"/>
              </a:rPr>
              <a:t>算力冷却商业调研报告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C9D8FF"/>
                </a:solidFill>
                <a:latin typeface="Microsoft YaHei"/>
              </a:rPr>
              <a:t>高密 AI 基础设施液冷：需求、算力基建投资、液冷占比、工程边界、竞争、准入、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550" b="0" i="0">
                <a:solidFill>
                  <a:srgbClr val="C9D8FF"/>
                </a:solidFill>
                <a:latin typeface="Microsoft YaHei"/>
              </a:rPr>
              <a:t>项目池与验证期权　·　v3.3 补入分部毛利实证、单位容量价格上限与验证路径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218688"/>
            <a:ext cx="10332720" cy="15240"/>
          </a:xfrm>
          <a:prstGeom prst="rect">
            <a:avLst/>
          </a:prstGeom>
          <a:solidFill>
            <a:srgbClr val="2A4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14400" y="3429000"/>
            <a:ext cx="3246120" cy="118872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566160"/>
            <a:ext cx="2962656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FFFFFF"/>
                </a:solidFill>
                <a:latin typeface="Microsoft YaHei"/>
              </a:rPr>
              <a:t>接近 30 → 约 70 亿美元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3986784"/>
            <a:ext cx="294436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C"/>
                </a:solidFill>
                <a:latin typeface="Microsoft YaHei"/>
              </a:rPr>
              <a:t>Dell'Oro 全球液冷设备制造商收入
2025 机构估计 → 2029 机构预测；TAM 主锚（未变）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6552" y="3429000"/>
            <a:ext cx="3246120" cy="118872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3566160"/>
            <a:ext cx="2962656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1" i="0">
                <a:solidFill>
                  <a:srgbClr val="FFFFFF"/>
                </a:solidFill>
                <a:latin typeface="Microsoft YaHei"/>
              </a:rPr>
              <a:t>10.36% ／ 684.75–715.00 元/kW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1144" y="3986784"/>
            <a:ext cx="294436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C"/>
                </a:solidFill>
                <a:latin typeface="Microsoft YaHei"/>
              </a:rPr>
              <a:t>v3.3 新增两个可复算实证锚：曙光数创冷板液冷毛利率
两个运营商采购样本折算的单位容量包价上限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18704" y="3429000"/>
            <a:ext cx="3246120" cy="1188720"/>
          </a:xfrm>
          <a:prstGeom prst="rect">
            <a:avLst/>
          </a:prstGeom>
          <a:solidFill>
            <a:srgbClr val="10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83296" y="3566160"/>
            <a:ext cx="2962656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 i="0">
                <a:solidFill>
                  <a:srgbClr val="7EC8BE"/>
                </a:solidFill>
                <a:latin typeface="Microsoft YaHei"/>
              </a:rPr>
              <a:t>SAM 24m = 无数据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83296" y="3986784"/>
            <a:ext cx="2944368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9FB3CC"/>
                </a:solidFill>
                <a:latin typeface="Microsoft YaHei"/>
              </a:rPr>
              <a:t>但价格、责任、现金已转化为可行域、敞口与生存条件
验证路径与最小证据集已明确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00600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6E86A6"/>
                </a:solidFill>
                <a:latin typeface="Microsoft YaHei"/>
              </a:rPr>
              <a:t>版本：</a:t>
            </a:r>
            <a:r>
              <a:rPr sz="1000" b="1">
                <a:solidFill>
                  <a:srgbClr val="FFFFFF"/>
                </a:solidFill>
                <a:latin typeface="Microsoft YaHei"/>
              </a:rPr>
              <a:t>v3.3 Evidence-led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16552" y="4800600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6E86A6"/>
                </a:solidFill>
                <a:latin typeface="Microsoft YaHei"/>
              </a:rPr>
              <a:t>数据截止日：</a:t>
            </a:r>
            <a:r>
              <a:rPr sz="1000" b="1">
                <a:solidFill>
                  <a:srgbClr val="FFFFFF"/>
                </a:solidFill>
                <a:latin typeface="Microsoft YaHei"/>
              </a:rPr>
              <a:t>2026-09-05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18704" y="4800600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6E86A6"/>
                </a:solidFill>
                <a:latin typeface="Microsoft YaHei"/>
              </a:rPr>
              <a:t>演示日期：</a:t>
            </a:r>
            <a:r>
              <a:rPr sz="1000" b="1">
                <a:solidFill>
                  <a:srgbClr val="FFFFFF"/>
                </a:solidFill>
                <a:latin typeface="Microsoft YaHei"/>
              </a:rPr>
              <a:t>2026-09-06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84648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6E86A6"/>
                </a:solidFill>
                <a:latin typeface="Microsoft YaHei"/>
              </a:rPr>
              <a:t>市场序列口径：</a:t>
            </a:r>
            <a:r>
              <a:rPr sz="1000" b="1">
                <a:solidFill>
                  <a:srgbClr val="FFFFFF"/>
                </a:solidFill>
                <a:latin typeface="Microsoft YaHei"/>
              </a:rPr>
              <a:t>2026-08-22（未变）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5184648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6E86A6"/>
                </a:solidFill>
                <a:latin typeface="Microsoft YaHei"/>
              </a:rPr>
              <a:t>配套 BP：</a:t>
            </a:r>
            <a:r>
              <a:rPr sz="1000" b="1">
                <a:solidFill>
                  <a:srgbClr val="FFFFFF"/>
                </a:solidFill>
                <a:latin typeface="Microsoft YaHei"/>
              </a:rPr>
              <a:t>v2.2_20260906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18704" y="5184648"/>
            <a:ext cx="338328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000">
                <a:solidFill>
                  <a:srgbClr val="6E86A6"/>
                </a:solidFill>
                <a:latin typeface="Microsoft YaHei"/>
              </a:rPr>
              <a:t>配套决策包：</a:t>
            </a:r>
            <a:r>
              <a:rPr sz="1000" b="1">
                <a:solidFill>
                  <a:srgbClr val="FFFFFF"/>
                </a:solidFill>
                <a:latin typeface="Microsoft YaHei"/>
              </a:rPr>
              <a:t>验证与决策包 v1.0_20260905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5742432"/>
            <a:ext cx="3703320" cy="384048"/>
          </a:xfrm>
          <a:prstGeom prst="rect">
            <a:avLst/>
          </a:prstGeom>
          <a:solidFill>
            <a:srgbClr val="5B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" y="5824728"/>
            <a:ext cx="35204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FFC9C4"/>
                </a:solidFill>
                <a:latin typeface="Microsoft YaHei"/>
              </a:rPr>
              <a:t>机密 · 仅供董事会与核心团队讨论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5760720"/>
            <a:ext cx="64008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FA4BE"/>
                </a:solidFill>
                <a:latin typeface="Microsoft YaHei"/>
              </a:rPr>
              <a:t>本报告不构成证券投资建议、产品认证或采购承诺。总体结论 valid_until 2026-11-30；投资与占比章节 2027-02-28；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0" i="0">
                <a:solidFill>
                  <a:srgbClr val="8FA4BE"/>
                </a:solidFill>
                <a:latin typeface="Microsoft YaHei"/>
              </a:rPr>
              <a:t>价格与现金实证 2026-12-31；责任结构 2027-03-31。本演示稿不修改任何既有报告、BP 与演示稿文件。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结论先行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需求方向成立；四个缺口已由决策包转化为条件、可行域、敞口与生存条件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2239"/>
                </a:solidFill>
                <a:latin typeface="Microsoft YaHei"/>
              </a:rPr>
              <a:t>当前证据只支持「受客户、工程、责任与现金门禁约束的小规模验证期权」，不支持按行业 CAGR 批准量产扩张。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「已明确验证路径」不等于「已验证」：研究充分性裁决仍为 SUFFICIENT WITH LIMITATIONS，SAM/SOM 仍为无数据。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19656"/>
            <a:ext cx="5455904" cy="1298448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19656"/>
            <a:ext cx="50292" cy="1298448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920240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75CD3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1" y="1901952"/>
            <a:ext cx="474267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>
                <a:solidFill>
                  <a:srgbClr val="0B2239"/>
                </a:solidFill>
                <a:latin typeface="Microsoft YaHei"/>
              </a:rPr>
              <a:t>需求方向强，口径不可相加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1" y="2386584"/>
            <a:ext cx="474267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设备、整机、宽产业是不同分母，任何两项不得相加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33271" y="2852928"/>
            <a:ext cx="474267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 i="0">
                <a:solidFill>
                  <a:srgbClr val="175CD3"/>
                </a:solidFill>
                <a:latin typeface="Microsoft YaHei"/>
              </a:rPr>
              <a:t>置信度 / valid_until：0.92 / 2027-01-31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3144" y="1819656"/>
            <a:ext cx="5455904" cy="1298448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3144" y="1819656"/>
            <a:ext cx="50292" cy="1298448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6024" y="1920240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175CD3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3496" y="1901952"/>
            <a:ext cx="474267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>
                <a:solidFill>
                  <a:srgbClr val="0B2239"/>
                </a:solidFill>
                <a:latin typeface="Microsoft YaHei"/>
              </a:rPr>
              <a:t>工程壁垒是平台级适配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3496" y="2386584"/>
            <a:ext cx="474267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铭牌冷量不能证明平台兼容；水力、材料、冗余与故障态共同决定可用性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3496" y="2852928"/>
            <a:ext cx="474267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 i="0">
                <a:solidFill>
                  <a:srgbClr val="175CD3"/>
                </a:solidFill>
                <a:latin typeface="Microsoft YaHei"/>
              </a:rPr>
              <a:t>置信度 / valid_until：0.94 / 2026-11-30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3282696"/>
            <a:ext cx="5455904" cy="1298448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282696"/>
            <a:ext cx="50292" cy="1298448"/>
          </a:xfrm>
          <a:prstGeom prst="rect">
            <a:avLst/>
          </a:prstGeom>
          <a:solidFill>
            <a:srgbClr val="08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3383279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87A70"/>
                </a:solidFill>
                <a:latin typeface="Microsoft YaHei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1" y="3364991"/>
            <a:ext cx="474267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>
                <a:solidFill>
                  <a:srgbClr val="0B2239"/>
                </a:solidFill>
                <a:latin typeface="Microsoft YaHei"/>
              </a:rPr>
              <a:t>增长不保证高毛利；毛利集中在海外与服务侧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1" y="3849624"/>
            <a:ext cx="474267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三家一手年报：英维克境外 52.64% vs 境内 23.83%；申菱方案服务 31.63% vs 设备 21.46%；曙光服务 51.02% vs 冷板 10.36%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1" y="4315968"/>
            <a:ext cx="474267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 i="0">
                <a:solidFill>
                  <a:srgbClr val="087A70"/>
                </a:solidFill>
                <a:latin typeface="Microsoft YaHei"/>
              </a:rPr>
              <a:t>置信度 / valid_until：披露事实 0.93；方向可迁移性 0.70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3144" y="3282696"/>
            <a:ext cx="5455904" cy="1298448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33144" y="3282696"/>
            <a:ext cx="50292" cy="1298448"/>
          </a:xfrm>
          <a:prstGeom prst="rect">
            <a:avLst/>
          </a:prstGeom>
          <a:solidFill>
            <a:srgbClr val="08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6024" y="3383279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087A70"/>
                </a:solidFill>
                <a:latin typeface="Microsoft YaHe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3496" y="3364991"/>
            <a:ext cx="474267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>
                <a:solidFill>
                  <a:srgbClr val="0B2239"/>
                </a:solidFill>
                <a:latin typeface="Microsoft YaHei"/>
              </a:rPr>
              <a:t>公开招标不能验证单位经济，但已能约束价格可行域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3496" y="3849624"/>
            <a:ext cx="474267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两个包价样本折算收敛在 684.75–715.00 元/kW（差 4.4%），可作 300–500 kW 档价格上限边界，不是价格预测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3496" y="4315968"/>
            <a:ext cx="474267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 i="0">
                <a:solidFill>
                  <a:srgbClr val="087A70"/>
                </a:solidFill>
                <a:latin typeface="Microsoft YaHei"/>
              </a:rPr>
              <a:t>置信度 / valid_until：0.96；折算值 0.85 / 2026-12-31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745736"/>
            <a:ext cx="5455904" cy="1298448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4745736"/>
            <a:ext cx="50292" cy="1298448"/>
          </a:xfrm>
          <a:prstGeom prst="rect">
            <a:avLst/>
          </a:prstGeom>
          <a:solidFill>
            <a:srgbClr val="9A6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846320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9A6700"/>
                </a:solidFill>
                <a:latin typeface="Microsoft YaHei"/>
              </a:rP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1" y="4828031"/>
            <a:ext cx="474267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>
                <a:solidFill>
                  <a:srgbClr val="0B2239"/>
                </a:solidFill>
                <a:latin typeface="Microsoft YaHei"/>
              </a:rPr>
              <a:t>液冷在算力投资中价值占比极低，且高度依赖分母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3271" y="5312664"/>
            <a:ext cx="474267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占总投资长期不到 1%，占设施侧约 1%–6%，占 DCPI 约 5%–11%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3271" y="5779007"/>
            <a:ext cx="474267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 i="0">
                <a:solidFill>
                  <a:srgbClr val="9A6700"/>
                </a:solidFill>
                <a:latin typeface="Microsoft YaHei"/>
              </a:rPr>
              <a:t>置信度 / valid_until：相对量级 0.80；任一点值 0.35 / 2027-02-28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33144" y="4745736"/>
            <a:ext cx="5455904" cy="1298448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33144" y="4745736"/>
            <a:ext cx="50292" cy="129844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16024" y="4846320"/>
            <a:ext cx="31089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B42318"/>
                </a:solidFill>
                <a:latin typeface="Microsoft YaHei"/>
              </a:rPr>
              <a:t>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763496" y="4828031"/>
            <a:ext cx="4742672" cy="56692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400"/>
              </a:spcAft>
            </a:pPr>
            <a:r>
              <a:rPr sz="1180" b="1" i="0">
                <a:solidFill>
                  <a:srgbClr val="0B2239"/>
                </a:solidFill>
                <a:latin typeface="Microsoft YaHei"/>
              </a:rPr>
              <a:t>最优策略是验证期权，且取证必须先于样机支出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3496" y="5312664"/>
            <a:ext cx="4742672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四项前置证据 &lt; 5 万元、6–8 周，保护 245 万元样机与 NRE 支出，保护比 49:1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63496" y="5779007"/>
            <a:ext cx="474267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1" i="0">
                <a:solidFill>
                  <a:srgbClr val="B42318"/>
                </a:solidFill>
                <a:latin typeface="Microsoft YaHei"/>
              </a:rPr>
              <a:t>置信度 / valid_until：0.88 / 2026-12-31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阅读须知（一）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两套独立标签体系：来源等级决定证据力，数据性质决定这个数字是什么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全文每个数字都同时带来源等级与数据性质；机构端点、本报告桥接与本报告情景必须能被一眼区分。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「无数据」是一种裁决结果，不是遗漏 —— 报告中共有 SAM/SOM、ASP、毛利、ROIC、CDU 能力矩阵等多处保持无数据。</a:t>
            </a:r>
          </a:p>
        </p:txBody>
      </p:sp>
      <p:pic>
        <p:nvPicPr>
          <p:cNvPr id="10" name="Picture 9" descr="c20_evidence_pyram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446" y="1783080"/>
            <a:ext cx="9899077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阅读须知（二）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口径纪律：不同分母不可相加、不可相减、不可用于计算份额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2239"/>
                </a:solidFill>
                <a:latin typeface="Microsoft YaHei"/>
              </a:rPr>
              <a:t>五层口径互不重叠，包含关系为：液冷设备市场 ⊂ DCPI 热管理 ⊂ DCPI ⊂ L1 ⊂ L3；L2 ⊂ L3；L1 ∩ L2 = ∅。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投资层级 L1 / L2 / L3 自 v3.2 起专指算力基建投资分层，与来源等级（一级/二级/三级）是两套独立编号。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819656"/>
          <a:ext cx="11186127" cy="287121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785020"/>
                <a:gridCol w="4046046"/>
                <a:gridCol w="1785020"/>
                <a:gridCol w="3570041"/>
              </a:tblGrid>
              <a:tr h="31089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口径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定义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用途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禁止事项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</a:tr>
              <a:tr h="51206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设备 TAM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冷板、CDU、歧管、快接、浸没、RDHx 等制造商收入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全球市场主锚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B42318"/>
                          </a:solidFill>
                          <a:latin typeface="Microsoft YaHei"/>
                        </a:rPr>
                        <a:t>不得与服务器整机或宽产业相加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算力基建投资 L1／L2／L3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设施侧 CapEx／IT 设备投资／两者之和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液冷占比的分母分层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B42318"/>
                          </a:solidFill>
                          <a:latin typeface="Microsoft YaHei"/>
                        </a:rPr>
                        <a:t>不得与设备 TAM 相加；不得换算为公司收入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1206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项目池 SAM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24 个月内、五道项目门均闭环且可服务的项目收入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公司可服务市场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B42318"/>
                          </a:solidFill>
                          <a:latin typeface="Microsoft YaHei"/>
                        </a:rPr>
                        <a:t>不得以公告 MW 或服务器台数代替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SOM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合格项目中经 qualification、订单、交付、服务与回款约束后的可获收入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公司预算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B42318"/>
                          </a:solidFill>
                          <a:latin typeface="Microsoft YaHei"/>
                        </a:rPr>
                        <a:t>不得用 TAM × 目标份额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1206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单位经济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从净收入扣除完全项目成本并考虑现金占用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量产门禁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B42318"/>
                          </a:solidFill>
                          <a:latin typeface="Microsoft YaHei"/>
                        </a:rPr>
                        <a:t>无报价、合同和试制数据时不得填点值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4892040"/>
            <a:ext cx="3637269" cy="786384"/>
          </a:xfrm>
          <a:prstGeom prst="rect">
            <a:avLst/>
          </a:prstGeom>
          <a:solidFill>
            <a:srgbClr val="FFF7F6"/>
          </a:solidFill>
          <a:ln w="9525">
            <a:solidFill>
              <a:srgbClr val="F6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" y="4983480"/>
            <a:ext cx="3381237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① 不可相加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" y="5239512"/>
            <a:ext cx="3381237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设备制造商收入、服务器整机、宽产业、总用电、容量 GW 是不同分母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7349" y="4892040"/>
            <a:ext cx="3637269" cy="786384"/>
          </a:xfrm>
          <a:prstGeom prst="rect">
            <a:avLst/>
          </a:prstGeom>
          <a:solidFill>
            <a:srgbClr val="FFF7F6"/>
          </a:solidFill>
          <a:ln w="9525">
            <a:solidFill>
              <a:srgbClr val="F6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5365" y="4983480"/>
            <a:ext cx="3381237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② 不可相减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5365" y="5239512"/>
            <a:ext cx="3381237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需求 219 GW 与供给 200 GW 之差、全液冷 70 亿与 DLC 58 亿之差都不是可交付订单或路线规模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51779" y="4892040"/>
            <a:ext cx="3637269" cy="786384"/>
          </a:xfrm>
          <a:prstGeom prst="rect">
            <a:avLst/>
          </a:prstGeom>
          <a:solidFill>
            <a:srgbClr val="FFF7F6"/>
          </a:solidFill>
          <a:ln w="9525">
            <a:solidFill>
              <a:srgbClr val="F6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79795" y="4983480"/>
            <a:ext cx="3381237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③ 不可算份额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79795" y="5239512"/>
            <a:ext cx="3381237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33415A"/>
                </a:solidFill>
                <a:latin typeface="Microsoft YaHei"/>
              </a:rPr>
              <a:t>任何「公司收入 ÷ 上述某一行」得到的比例都不具备可比性，不得进入董事会材料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需求方向没有争议：用电五年翻倍、容量需求五年增 1.7 倍，但三条曲线分母不同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2025 → 2030 机构端点：用电 485 → 950 TWh（IEA）；关键 IT 需求 82 → 219 GW（McKinsey）；设施供给 103 → 200 GW（JLL）。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需求 219 GW 高于供给 200 GW 不等于订单缺口：两者定义、基准、时点、占用与可交付性不同，不可相减。</a:t>
            </a:r>
          </a:p>
        </p:txBody>
      </p:sp>
      <p:pic>
        <p:nvPicPr>
          <p:cNvPr id="10" name="Picture 9" descr="c01_power_capac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86" y="1783080"/>
            <a:ext cx="10220797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机柜功率密度在一代内从 66 kW 跃到 264 kW —— 风冷延寿空间被物理压缩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Dell'Oro 称「1 MW 机柜正在临近」；NVIDIA Rubin 路线称 100% 液冷，Vera Rubin 计算托盘取消风扇。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但铭牌功率不是采购依据：Supermicro 250 kW 与 Dell 264 kW 分别是方案移热能力与特定配置最高值，口径不同。</a:t>
            </a:r>
          </a:p>
        </p:txBody>
      </p:sp>
      <p:pic>
        <p:nvPicPr>
          <p:cNvPr id="10" name="Picture 9" descr="c02_rack_pow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86" y="1783080"/>
            <a:ext cx="10220797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真正约束液冷需求的不是规划容量，而是每年实际投运的 10–28 GW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JLL：2025 年 57% 项目延迟至少 3 个月，主要市场并网平均等待超过 4 年；C&amp;W：全球大负荷平均供电周期 4.4 年。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管理动作：在建与规划 pipeline 不计入当年投运，也不计入任何 SAM；项目预算只跟随已获电、已开工、平台已冻结的批次。</a:t>
            </a:r>
          </a:p>
        </p:txBody>
      </p:sp>
      <p:pic>
        <p:nvPicPr>
          <p:cNvPr id="10" name="Picture 9" descr="c03_new_commissio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2692" y="1783080"/>
            <a:ext cx="10006584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逐年投运量无任何机构发布 —— 全部为本报告由 JLL 累计端点桥接的模型值。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AI 占存量容量约 25% → 50%，但占新增容量高达 76% —— 两个分母差一倍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v3.1 曾把存量份额当作新增份额使用；v3.2 已在表 2.5.2 列名中标明「存量口径」，并单列 65%–82% 的新增份额序列。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这一区分直接决定自下而上模型的 IT 腿：用错分母会把液冷相关容量低估近一半。</a:t>
            </a:r>
          </a:p>
        </p:txBody>
      </p:sp>
      <p:pic>
        <p:nvPicPr>
          <p:cNvPr id="10" name="Picture 9" descr="c04_ai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292" y="1783080"/>
            <a:ext cx="10429385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市场篇（五）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算力基建总投资 2025 年约 6,500–8,050 亿美元，2030 年约 1.64–2.05 万亿美元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先分层再谈占比：不同机构所称的「数据中心投资」相差十倍以上，主因是层级不同而非数据冲突。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使用边界（强制）：本序列仅用于外部市场锚定与情景分析，不得换算为公司收入预算、SAM/SOM、产能规划、ASP 或毛利率。</a:t>
            </a:r>
          </a:p>
        </p:txBody>
      </p:sp>
      <p:pic>
        <p:nvPicPr>
          <p:cNvPr id="10" name="Picture 9" descr="c05_capex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824" y="1783080"/>
            <a:ext cx="9606320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confidence 0.72 / valid_until 2027-02-28　·　机构只发布累计口径，全部年度序列为本报告模型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两条独立路径交叉验证后的裁决：McKinsey 6.7 万亿基准情景已过时，改用加速情景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路径 B 的 IT 腿自下而上低估约 36%（容量法 2,040 亿 vs IDC 实测 3,180 亿），四项原因逐条披露，不取平均掩盖。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处置：L1 以路径 B 为主锚（设施侧有 JLL、Epoch AI、Turner &amp; Townsend 三个独立每 MW 证据），L2 以 IDC 实测为主锚。</a:t>
            </a:r>
          </a:p>
        </p:txBody>
      </p:sp>
      <p:pic>
        <p:nvPicPr>
          <p:cNvPr id="10" name="Picture 9" descr="c06_path_a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824" y="1783080"/>
            <a:ext cx="9606320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反向风险：加速情景依赖 AI 投资回报持续被市场接受；若 2027 年融资收紧，实际路径可能快速回落到 A-基准甚至 A-受限。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市场篇（七）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四大厂商 CapEx 只作旁证：它证伪了基准情景，但不能除以 L3 得「份额」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A6700"/>
                </a:solidFill>
                <a:latin typeface="Microsoft YaHei"/>
              </a:rPr>
              <a:t>四家使用三种不同 CapEx 定义，含办公、网络骨干、自研芯片预付等非数据中心支出，与全球 L3 口径不同。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四家之外还有 Oracle、xAI、CoreWeave、字节、阿里、腾讯与主权 AI 项目等大量投资主体，因此该表不得相加进 L3。</a:t>
            </a:r>
          </a:p>
        </p:txBody>
      </p:sp>
      <p:pic>
        <p:nvPicPr>
          <p:cNvPr id="10" name="Picture 9" descr="c14_hyperscaler_cap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112" y="1783080"/>
            <a:ext cx="11035744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市场篇（八）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液冷设备市场：2029 年约 70 亿美元合理，但整条曲线只有两个机构端点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三重合理性校验（宏观占比、容量强度、机柜强度）均通过量级检查，但都不能独立闭环 —— 只能作异常检查。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董事会外部 TAM 采用 2032 年 90–140 亿美元（本报告模型），Base 约 115 亿；不是机构预测、不是 CDU SAM/SOM、不是公司可得收入。</a:t>
            </a:r>
          </a:p>
        </p:txBody>
      </p:sp>
      <p:pic>
        <p:nvPicPr>
          <p:cNvPr id="10" name="Picture 9" descr="c07_lc_scen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824" y="1783080"/>
            <a:ext cx="9606320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invalidate_if：Dell'Oro 新版偏离 2029 年 60–80 亿美元；2027–2028 已获电投运或 AI 液冷采用显著落后；设备价格年降幅 &gt;15% 且瓦数/配置不能抵消。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市场篇（九）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Dell'Oro 的四个版本必须隔离：70 − 58 = 12 不是浸没与 RDHx 的规模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这是本报告最关键的方法论纪律之一：三个数字分属三个发布版本、三个边界，底层逐年表与方法为付费内容，不可见。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禁止：母子精确拆分、跨版本相减、连成连续年度曲线、拼成一条占比序列。新版发布即重设端点。</a:t>
            </a:r>
          </a:p>
        </p:txBody>
      </p:sp>
      <p:pic>
        <p:nvPicPr>
          <p:cNvPr id="10" name="Picture 9" descr="c08_delloro_ver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586" y="1783080"/>
            <a:ext cx="10220797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液冷占比取决于分母，同一年三个比例相差约 30 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同一个分子（液冷设备制造商收入），换三个分母：占 L3 约 0.3%–0.9%，占 L1 约 1.3%–5.6%，占 DCPI 约 5%–11%。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任何引用必须同时写出分母层级与来源版本。只写「液冷约占 10%」或「液冷不到 1%」都是误导。</a:t>
            </a:r>
          </a:p>
        </p:txBody>
      </p:sp>
      <p:pic>
        <p:nvPicPr>
          <p:cNvPr id="10" name="Picture 9" descr="c09_three_denomina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7004" y="1783080"/>
            <a:ext cx="9417961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相对量级 confidence 0.80；任一年份的任一点值 confidence 0.35 —— 禁止点值引用。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市场篇（十 · 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30 倍差距来自分母层级：L3 ⊃ L1 ⊃ DCPI ⊃ 液冷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同一分子（液冷设备制造商收入，2029 年约 70 亿美元）依次放进三个嵌套分母：占 L3 约 0.3%–0.5%、占 L1 约 1.7%–2.9%、占 DCPI 约 5%–8%。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饼① 约 81% 是 IT 设备，与液冷供应商无竞争关系；饼② DCPI 以外部分与饼③ 其他品类均无公开细分金额，宁可合并为「其他」也不编造比例。</a:t>
            </a:r>
          </a:p>
        </p:txBody>
      </p:sp>
      <p:pic>
        <p:nvPicPr>
          <p:cNvPr id="10" name="Picture 9" descr="c30_denominator_p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597" y="1783080"/>
            <a:ext cx="9446775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扇区按表 2.6.5 Base 值绘制、仅示意量级；对外引用一律用区间，并同时写明分母层级与 Dell'Oro 版本。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市场篇（十一）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同一个分子、同一年，换 Dell'Oro 的版本就从 10%–13% 变成 5%–8%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A6700"/>
                </a:solidFill>
                <a:latin typeface="Microsoft YaHei"/>
              </a:rPr>
              <a:t>变化几乎全部来自 Dell'Oro 扩大 DCPI 边界并上调预测，不是液冷竞争地位下降。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v3.1 正文的「2029 液冷约占旧版 DCPI 631 亿美元的 10%–13%」仍然正确 —— 但只在旧版口径下正确。</a:t>
            </a:r>
          </a:p>
        </p:txBody>
      </p:sp>
      <p:pic>
        <p:nvPicPr>
          <p:cNvPr id="10" name="Picture 9" descr="c10_version_sensitiv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396" y="1783080"/>
            <a:ext cx="10911177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市场篇（十二）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三组占比各自回答不同的问题 —— 只有组③ 可以谈「份额」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2239"/>
                </a:solidFill>
                <a:latin typeface="Microsoft YaHei"/>
              </a:rPr>
              <a:t>引用任何一个占比时必须同时写出分母层级与发布版本，否则读者会把两个正确数字当成互相矛盾。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占比高低与新进入者的可得份额之间没有因果关系；分母是全球所有制造商的收入。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819656"/>
          <a:ext cx="11186127" cy="349300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80853"/>
                <a:gridCol w="989922"/>
                <a:gridCol w="4157676"/>
                <a:gridCol w="4157676"/>
              </a:tblGrid>
              <a:tr h="31089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组 / 分母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结果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适用：回答什么问题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不适用：不能回答什么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</a:tr>
              <a:tr h="106070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1">
                          <a:solidFill>
                            <a:srgbClr val="087A70"/>
                          </a:solidFill>
                          <a:latin typeface="Microsoft YaHei"/>
                        </a:rPr>
                        <a:t>① L3 算力基建总投资（最宽）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1">
                          <a:solidFill>
                            <a:srgbClr val="087A70"/>
                          </a:solidFill>
                          <a:latin typeface="Microsoft YaHei"/>
                        </a:rPr>
                        <a:t>0.3%–0.9%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0">
                          <a:solidFill>
                            <a:srgbClr val="33415A"/>
                          </a:solidFill>
                          <a:latin typeface="Microsoft YaHei"/>
                        </a:rPr>
                        <a:t>在整个 AI 算力投资盘子里，独立液冷设备的价值占多少。适用于向董事会解释「AI 投资巨大」与「液冷可得收入有限」之间的落差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0">
                          <a:solidFill>
                            <a:srgbClr val="B42318"/>
                          </a:solidFill>
                          <a:latin typeface="Microsoft YaHei"/>
                        </a:rPr>
                        <a:t>不适用于评估液冷业务的相对增长性或竞争地位：分母中约 75%–85% 是 IT 设备，与液冷供应商无任何竞争或替代关系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106070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1">
                          <a:solidFill>
                            <a:srgbClr val="175CD3"/>
                          </a:solidFill>
                          <a:latin typeface="Microsoft YaHei"/>
                        </a:rPr>
                        <a:t>② L1 设施侧 CapEx（中等）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1">
                          <a:solidFill>
                            <a:srgbClr val="175CD3"/>
                          </a:solidFill>
                          <a:latin typeface="Microsoft YaHei"/>
                        </a:rPr>
                        <a:t>1.3%–5.6%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0">
                          <a:solidFill>
                            <a:srgbClr val="33415A"/>
                          </a:solidFill>
                          <a:latin typeface="Microsoft YaHei"/>
                        </a:rPr>
                        <a:t>在数据中心设施建设的每一元里，液冷设备制造商拿到多少。适用于与 EPC、机电总包、配电、UPS 等设施侧品类做相对规模比较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0">
                          <a:solidFill>
                            <a:srgbClr val="B42318"/>
                          </a:solidFill>
                          <a:latin typeface="Microsoft YaHei"/>
                        </a:rPr>
                        <a:t>不适用于推导单个项目的液冷成本占比：L1 是全球混合平均，含大量风冷与非 AI 项目；单个高密 AI 项目的液冷占比远高于此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1060704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1">
                          <a:solidFill>
                            <a:srgbClr val="0B2239"/>
                          </a:solidFill>
                          <a:latin typeface="Microsoft YaHei"/>
                        </a:rPr>
                        <a:t>③ DCPI 设备市场（最窄、最可比）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1">
                          <a:solidFill>
                            <a:srgbClr val="0B2239"/>
                          </a:solidFill>
                          <a:latin typeface="Microsoft YaHei"/>
                        </a:rPr>
                        <a:t>5%–11%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0">
                          <a:solidFill>
                            <a:srgbClr val="33415A"/>
                          </a:solidFill>
                          <a:latin typeface="Microsoft YaHei"/>
                        </a:rPr>
                        <a:t>液冷在物理基础设施设备制造商收入中的结构性权重与趋势。同一机构、同一收入确认规则，液冷是 DCPI 热管理的子集，是三组中唯一可以谈「份额」的分母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30" b="0">
                          <a:solidFill>
                            <a:srgbClr val="B42318"/>
                          </a:solidFill>
                          <a:latin typeface="Microsoft YaHei"/>
                        </a:rPr>
                        <a:t>不适用于推导公司可得份额：分母已被 Ecolab/CoolIT、Eaton/Boyd、Schneider/Motivair、Vertiv、Modine 及各 OEM 自供占据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5495544"/>
            <a:ext cx="11186129" cy="512064"/>
          </a:xfrm>
          <a:prstGeom prst="rect">
            <a:avLst/>
          </a:prstGeom>
          <a:solidFill>
            <a:srgbClr val="FFF7F6"/>
          </a:solidFill>
          <a:ln w="9525">
            <a:solidFill>
              <a:srgbClr val="F6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4630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B42318"/>
                </a:solidFill>
                <a:latin typeface="Microsoft YaHei"/>
              </a:rPr>
              <a:t>极差约 30 倍：2032 年 0.4%（组①下界）对 11%（组③上界）；2025 年 0.3% 对 9%。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415A"/>
                </a:solidFill>
                <a:latin typeface="Microsoft YaHei"/>
              </a:rPr>
              <a:t>用组③ 的量级去论证组① 的商业空间，会把可得市场高估一个量级以上。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市场篇（十三）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设施侧「液冷投入」是设备制造商收入的 5–6 倍 —— 差额被 EPC 与安装截留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这解释了工程口径与市场口径的表面矛盾：「液冷占 AI 机房造价 15%–33%」是项目造价科目，与本报告的 1%–6% 不在同一分母。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对本业务的含义：能进入独立设备供应商可争夺池子的，只有右侧那一段。</a:t>
            </a:r>
          </a:p>
        </p:txBody>
      </p:sp>
      <p:pic>
        <p:nvPicPr>
          <p:cNvPr id="10" name="Picture 9" descr="c11_facility_vs_manufactur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781" y="1783080"/>
            <a:ext cx="10514407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市场篇（十四）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占比不是稳定参数：四项推高、四项压低、一项方向不确定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2030 年组①、组② 同时出现台阶，主要来自 Dell'Oro 新版 DLC「超过 80 亿美元」造成的预测版本跳点，不解释为有机改善。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其中「OEM/ODM 垂直整合」与「设施侧 EPC 吃掉价值」两项对独立供应商的杀伤最直接。</a:t>
            </a:r>
          </a:p>
        </p:txBody>
      </p:sp>
      <p:pic>
        <p:nvPicPr>
          <p:cNvPr id="10" name="Picture 9" descr="c25_share_driv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1288" y="1783080"/>
            <a:ext cx="10289393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技术与格局篇（一）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技术路线按成熟度三分：只有第一层已产品化，后两层不给性能点值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主边界是冷板式直接液冷（CDU、冷板、Manifold、UQD、工质、二次管路、控制、安装调试与流体运维）。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浸没、两相与设施侧冷源只作相邻路线比较，不进入本报告的收入分母。</a:t>
            </a:r>
          </a:p>
        </p:txBody>
      </p:sp>
      <p:pic>
        <p:nvPicPr>
          <p:cNvPr id="10" name="Picture 9" descr="c23_tech_rou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4781" y="1783080"/>
            <a:ext cx="10702405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技术与格局篇（二）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平台工程基线：铭牌冷量不能证明兼容，五项参数必须同时校核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2239"/>
                </a:solidFill>
                <a:latin typeface="Microsoft YaHei"/>
              </a:rPr>
              <a:t>只记录同一版本、同一回路可比较的数据；公开未披露即写「无数据」，不得用其他 OEM 参数替代。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选型须同时校核：IT 功率 · HCR/液体热负荷 · TCS/FWS 温度与工质 · Q–ΔP · 冗余与故障态。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819656"/>
          <a:ext cx="11186127" cy="319125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76822"/>
                <a:gridCol w="1583876"/>
                <a:gridCol w="2375815"/>
                <a:gridCol w="2375815"/>
                <a:gridCol w="2573799"/>
              </a:tblGrid>
              <a:tr h="31089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平台 / 版本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IT 功率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液体负荷 / HCR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TCS 温度 / 工质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工程裁决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</a:tr>
              <a:tr h="576072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Microsoft YaHei"/>
                        </a:rPr>
                        <a:t>Lenovo GB300 NVL72
2026-08-13 update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135 kW TDP
155 kW peak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约 90%；121.5–139.5 kW
为本报告推导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供液 25–45℃；DI water
或 PG25；回液无数据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当前最完整的一柜曲线；
项目须确认曲线对应工质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Microsoft YaHei"/>
                        </a:rPr>
                        <a:t>Lenovo N1380 / SC750 V4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54 kW / enclosure
三套 162 kW DC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B42318"/>
                          </a:solidFill>
                          <a:latin typeface="Microsoft YaHei"/>
                        </a:rPr>
                        <a:t>量热保证无数据；公开架构
称接近全水冷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供液 27/32/40/45℃；
处理洁净水；回液无数据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流量可加，支路压降不可
相加；HCR 保留条件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76072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Microsoft YaHei"/>
                        </a:rPr>
                        <a:t>Huawei Atlas 900 A3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计算柜最大 66 kW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约 70%，随配置；46.2 kW
仅为本报告粗算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液冷门供液 5–32℃；
纯水或 EG50；回液无数据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B42318"/>
                          </a:solidFill>
                          <a:latin typeface="Microsoft YaHei"/>
                        </a:rPr>
                        <a:t>液冷门回路与计算柜 D2C
回路不得拼接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Microsoft YaHei"/>
                        </a:rPr>
                        <a:t>HPE GB200 NVL72 v4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132 kW / rack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115 kW liquid + 17 kW air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B42318"/>
                          </a:solidFill>
                          <a:latin typeface="Microsoft YaHei"/>
                        </a:rPr>
                        <a:t>公开摘要无数据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液体负荷可用，水力须取
site readiness 包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76072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Microsoft YaHei"/>
                        </a:rPr>
                        <a:t>Dell IR7000 + XE8712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特定配置最高
264 kW / rack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B42318"/>
                          </a:solidFill>
                          <a:latin typeface="Microsoft YaHei"/>
                        </a:rPr>
                        <a:t>HCR / 液体 kW 无数据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28/32/36/40℃；
Dell validated PG25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504 kW 是供电/busbar 生态
能力，非本配置液体负荷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5175504"/>
            <a:ext cx="11186129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5D687A"/>
                </a:solidFill>
                <a:latin typeface="Microsoft YaHei"/>
              </a:rPr>
              <a:t>NVIDIA DGX GB200（约 120 kW/rack）、Supermicro DLC-2（方案能力最高 250 kW，非固定 IT 铭牌）与 NVIDIA Rubin（原厂路线称 100% 液冷，固定 rack kW 未披露）三项关键字段为无数据，不承诺任何容量档覆盖柜数。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919" b="0" i="0">
                <a:solidFill>
                  <a:srgbClr val="5D687A"/>
                </a:solidFill>
                <a:latin typeface="Microsoft YaHei"/>
              </a:rPr>
              <a:t>来源：Lenovo GB300 Product Guide Table 27；N1380 Configuration Guide Tables 1–4；Atlas 900 A3 技术规格；Dell Rack-Scale DLC Guidelines pp.4–5, 18–19。报告表 3.1。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技术与格局篇（三）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供液温度从 25℃ 升到 45℃：流量约 3 倍，压降约 8 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这是当前公开资料中最完整的一柜 Q–ΔP 曲线，也是「铭牌冷量不能证明兼容」最直观的证据。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项目必须确认曲线对应的工质（DI water 或 PG25）；不同 OEM 的流量与压降不可互相套用，支路压降不可相加。</a:t>
            </a:r>
          </a:p>
        </p:txBody>
      </p:sp>
      <p:pic>
        <p:nvPicPr>
          <p:cNvPr id="10" name="Picture 9" descr="c12_qdp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4411" y="1783080"/>
            <a:ext cx="10243146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技术与格局篇（四）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CDU 卖的是可验证系统与责任闭环，不是铭牌 kW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有效冷量随 ATD、供回液温度、工质、泵故障态、海拔与污堵变化，必须以矩阵而非单点表述。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控制层（应用控制算法、状态机、故障降级、BMS/DCIM 接口、远程诊断）是本业务自留的高附加值环节。</a:t>
            </a:r>
          </a:p>
        </p:txBody>
      </p:sp>
      <p:pic>
        <p:nvPicPr>
          <p:cNvPr id="10" name="Picture 9" descr="c17_cdu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425" y="1783080"/>
            <a:ext cx="9297119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技术与格局篇（五）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容量档不是兼容承诺：四档 × 四类工况的有效能力当前全部为无数据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这不是资料收集不足，而是尚无样机热性能与 PQ 矩阵；解锁条件是客户 RFQ 加样机实测，不是更多公开检索。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在矩阵填实之前，任何「我们的 300 kW CDU 支持某平台」的表述都不成立。</a:t>
            </a:r>
          </a:p>
        </p:txBody>
      </p:sp>
      <p:pic>
        <p:nvPicPr>
          <p:cNvPr id="10" name="Picture 9" descr="c26_cdu_matrix_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83080"/>
            <a:ext cx="11186129" cy="453776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技术与格局篇（六）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竞争已全栈化：三笔并购把液冷装进了水处理、电力与预制模块的全栈组合里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75CD3"/>
                </a:solidFill>
                <a:latin typeface="Microsoft YaHei"/>
              </a:rPr>
              <a:t>壁垒已从设备转向全球服务、流体管理与责任承担；新进入者要面对的是组合方案，不是单机比价。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所有可比数字必须按四层严格分列，不以集团收入或集团毛利冒充液冷收入或毛利。</a:t>
            </a:r>
          </a:p>
        </p:txBody>
      </p:sp>
      <p:pic>
        <p:nvPicPr>
          <p:cNvPr id="10" name="Picture 9" descr="c24_compet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651" y="1783080"/>
            <a:ext cx="9718666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技术与格局篇（七）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唯一可用的纯液冷毛利实绩：冷板 10.36%，与浸没 36.49% 相差三倍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9A6700"/>
                </a:solidFill>
                <a:latin typeface="Microsoft YaHei"/>
              </a:rPr>
              <a:t>这是报告中仅有的、口径较纯的历史可比毛利证据，也是「增长不保证高毛利」的直接支撑。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复算：298,639,495.45 − 267,702,360.46 = 30,937,134.99；÷ 298,639,495.45 = 10.3594%，与年报披露自洽。</a:t>
            </a:r>
          </a:p>
        </p:txBody>
      </p:sp>
      <p:pic>
        <p:nvPicPr>
          <p:cNvPr id="10" name="Picture 9" descr="c13_margin_evid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314" y="1783080"/>
            <a:ext cx="10721340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下行反证：2026 H1 冷板收入 +290.09%，同期归母净利 −7,340 万元、经营现金流 −2.42 亿元 —— 10.36% 不是行业地板。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技术与格局篇（八）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不存在公开可验证的统一 CDU 认证 —— 准入是逐项目的九步 qualification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NPN 是伙伴计划，NVIDIA-Certified Systems 面向整机；华为有公司级供应商体系，但未公开 Atlas CDU 完整名录。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营销材料只可写具体项目、具体平台、具体版本的 qualification 状态，不得写「已获大厂认证」。</a:t>
            </a:r>
          </a:p>
        </p:txBody>
      </p:sp>
      <p:pic>
        <p:nvPicPr>
          <p:cNvPr id="10" name="Picture 9" descr="c21_qualification_ch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004" y="1783080"/>
            <a:ext cx="11149960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商业篇（一）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把资本压在微笑曲线两端：中段的器件、基础软件与制造交给受控供应商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2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87A70"/>
                </a:solidFill>
                <a:latin typeface="Microsoft YaHei"/>
              </a:rPr>
              <a:t>自留七项价值控制点：需求权、架构权、版本权、变更权、放行权、数据权、客户权。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外协不转移最终责任：ISO 9001 外部过程控制原则与产品质量法都要求本公司保留最终放行、品牌与客户责任。</a:t>
            </a:r>
          </a:p>
        </p:txBody>
      </p:sp>
      <p:pic>
        <p:nvPicPr>
          <p:cNvPr id="10" name="Picture 9" descr="c16_smile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134" y="1783080"/>
            <a:ext cx="9463701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商业篇（二）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商业三步走：2027 启动，800 / 1,200 / 1,500 万元是阶段上限而非承诺额度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29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2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87A70"/>
                </a:solidFill>
                <a:latin typeface="Microsoft YaHei"/>
              </a:rPr>
              <a:t>阶段 2、3 是条件期权。只有订单、贡献、回款、可靠性与现金跑道同时达标才解锁，缺一即冻结。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BP v2.2 在 G0 与 G1 之间新增 G0.5 前置证据门：只加严次序，不新增额度、不放宽 G1 的任何既有判据。</a:t>
            </a:r>
          </a:p>
        </p:txBody>
      </p:sp>
      <p:pic>
        <p:nvPicPr>
          <p:cNvPr id="10" name="Picture 9" descr="c18_road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8259" y="1783080"/>
            <a:ext cx="8775451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商业篇（三）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行业 TAM 增长推导不出公司收入：中间横着五道项目门和六个断点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六个断点：分母、可交付、准入、价格、现金、模型。任何一个都足以让「TAM × 目标份额」失效。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SAM 24m 与 SOM 当前均为无数据 —— 不是 0，而是公开可核验的合格项目尚未闭环。</a:t>
            </a:r>
          </a:p>
        </p:txBody>
      </p:sp>
      <p:pic>
        <p:nvPicPr>
          <p:cNvPr id="10" name="Picture 9" descr="c19_tam_sam_s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8394" y="1783080"/>
            <a:ext cx="9215179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商业篇（四）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单位经济：空模型未填实，但已从「无数据」转化为可行域与生存条件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31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2239"/>
                </a:solidFill>
                <a:latin typeface="Microsoft YaHei"/>
              </a:rPr>
              <a:t>四个 SKU 的额定工况、ASP、贡献毛利、ROIC 与盈亏平衡仍全部为「无数据」——「无数据」不是 0，不得用二手区间填空。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变化的是：现在已经知道「一旦填实，结果必须落在哪个区间才成立」。以下全部是约束条件，回答「必须达到什么」。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819656"/>
          <a:ext cx="11186128" cy="367588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825206"/>
                <a:gridCol w="1008585"/>
                <a:gridCol w="5868133"/>
                <a:gridCol w="3484204"/>
              </a:tblGrid>
              <a:tr h="31089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维度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v3.2 的状态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v3.3 转化后的约束（必须达到什么）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解锁证据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</a:tr>
              <a:tr h="84124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Microsoft YaHei"/>
                        </a:rPr>
                        <a:t>价格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B42318"/>
                          </a:solidFill>
                          <a:latin typeface="Microsoft YaHei"/>
                        </a:rPr>
                        <a:t>无数据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B42318"/>
                          </a:solidFill>
                          <a:latin typeface="Microsoft YaHei"/>
                        </a:rPr>
                        <a:t>同边界成本下界 840 元/kW；&lt; 840 必然亏损，840–1,090 不可接单，1,090–1,440 容量不可达，1,440–1,730 可讨论。国内运营商包价上限 684.75–715.00 元/kW 落在「必然亏损」区间内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M1 四 SKU 书面报价 + M2 两个同边界分项合同价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Microsoft YaHei"/>
                        </a:rPr>
                        <a:t>毛利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B42318"/>
                          </a:solidFill>
                          <a:latin typeface="Microsoft YaHei"/>
                        </a:rPr>
                        <a:t>无数据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B42318"/>
                          </a:solidFill>
                          <a:latin typeface="Microsoft YaHei"/>
                        </a:rPr>
                        <a:t>倒推所需 27%–37%，国内一手实证 10.36%–23.83%，缺口约 4–27 个百分点。「提高国内定价」无任何一手实证支持，不在选项之列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M1（降 BOM）；海外与服务方向的前置条件成本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84124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Microsoft YaHei"/>
                        </a:rPr>
                        <a:t>责任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B42318"/>
                          </a:solidFill>
                          <a:latin typeface="Microsoft YaHei"/>
                        </a:rPr>
                        <a:t>无数据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B42318"/>
                          </a:solidFill>
                          <a:latin typeface="Microsoft YaHei"/>
                        </a:rPr>
                        <a:t>单块 GPU 基板损坏 = 合同额 1.76–2.52 倍、项目毛利 17.0–24.3 倍；行业惯例 10%–20% 上限仅覆盖单块基板成本的 4%–11%。R1–R6 无法达成即不接单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M3 客户书面责任条款 + 产品责任险报价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0B2239"/>
                          </a:solidFill>
                          <a:latin typeface="Microsoft YaHei"/>
                        </a:rPr>
                        <a:t>现金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1">
                          <a:solidFill>
                            <a:srgbClr val="B42318"/>
                          </a:solidFill>
                          <a:latin typeface="Microsoft YaHei"/>
                        </a:rPr>
                        <a:t>跑道 NA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B42318"/>
                          </a:solidFill>
                          <a:latin typeface="Microsoft YaHei"/>
                        </a:rPr>
                        <a:t>峰值 91 万元/MW；并行容量 1.21 MW、年吞吐 1.86 MW，为 F2 盈亏平衡 7.80 MW/年 的 23.8%。三条底线：最低现金 171 万元 / 最大并行 1 个项目 / 回款延迟容忍 11.2 周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880" b="0">
                          <a:solidFill>
                            <a:srgbClr val="33415A"/>
                          </a:solidFill>
                          <a:latin typeface="Microsoft YaHei"/>
                        </a:rPr>
                        <a:t>M4 客户书面付款条款（30% 预付款可把 11.2 周延长到 17.1 周）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5660136"/>
            <a:ext cx="11186129" cy="566928"/>
          </a:xfrm>
          <a:prstGeom prst="rect">
            <a:avLst/>
          </a:prstGeom>
          <a:solidFill>
            <a:srgbClr val="FFF7F6"/>
          </a:solidFill>
          <a:ln w="9525">
            <a:solidFill>
              <a:srgbClr val="F6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46304"/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B42318"/>
                </a:solidFill>
                <a:latin typeface="Microsoft YaHei"/>
              </a:rPr>
              <a:t>隔离条款：以上均为约束边界，不是 ASP、毛利率或现金流预测，不得填入四 SKU 空模型的任何一格。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0" i="0">
                <a:solidFill>
                  <a:srgbClr val="33415A"/>
                </a:solidFill>
                <a:latin typeface="Microsoft YaHei"/>
              </a:rPr>
              <a:t>合同额 14.30 万元与项目毛利 1.48 万元采用国内运营商实证包价上限与曙光冷板实证毛利率，是可核验的外部值，不是本公司报价或毛利假设。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商业篇（五）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价格可行域与国内运营商采购上限不重叠；所需毛利率高于国内一手实证 4–27 个百分点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32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同边界成本下界 840 元/kW，高于国内运营商包价上限 684.75–715.00 元/kW 约 17%–23%：两者不重叠。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倒推所需 27%–37% vs 国内一手实证 10.36%–23.83%。这是「必须达到什么」，不是「将会达到什么」。</a:t>
            </a:r>
          </a:p>
        </p:txBody>
      </p:sp>
      <p:pic>
        <p:nvPicPr>
          <p:cNvPr id="10" name="Picture 9" descr="c27_price_band_margin_g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700" y="1783080"/>
            <a:ext cx="10814569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国内运营商裸设备渠道据此由「待验证机会」降级为「待排除假说」——在取得反证前，不得作为阶段一收入与毛利来源。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商业篇（六）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责任敞口：最小事故即赔掉 17–24 个项目的全部毛利，而行业惯例上限赔不起一块基板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33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一次约 50 ml 冷却液损坏单块 GPU 基板 = 合同额 1.76–2.52 倍、项目毛利 17.0–24.3 倍。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行业指引转引的 10%–20% 责任上限（1.43–2.86 万元）仅覆盖单块基板成本的 4%–11%。</a:t>
            </a:r>
          </a:p>
        </p:txBody>
      </p:sp>
      <p:pic>
        <p:nvPicPr>
          <p:cNvPr id="10" name="Picture 9" descr="c28_liability_multi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139" y="1783080"/>
            <a:ext cx="10673689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因此责任封顶是业务前提而非谈判技巧：R1–R6 无法达成即不接单，且该判定先于报价。技术故障隔离是唯一降低敞口本身的手段（4.71 倍）。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商业篇（七）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最小验证集与保护比 49:1 —— 用 &lt; 5 万元、6–8 周决定 245 万元该不该花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2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87A70"/>
                </a:solidFill>
                <a:latin typeface="Microsoft YaHei"/>
              </a:rPr>
              <a:t>四项前置证据 M1 / M3 / M4 / M5 合计现金成本 &lt; 5 万元、周期 6–8 周，全部取得前不得启动样机与 NRE 采购。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245 万元占阶段一 800 万元上限的 30.6%，且是阶段一唯一一笔不可回收的大额支出。复算：(115 + 130) ÷ 5 = 49.0。</a:t>
            </a:r>
          </a:p>
        </p:txBody>
      </p:sp>
      <p:pic>
        <p:nvPicPr>
          <p:cNvPr id="10" name="Picture 9" descr="c29_min_evidence_g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314" y="1783080"/>
            <a:ext cx="9261340" cy="42885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6144768"/>
            <a:ext cx="1118612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B42318"/>
                </a:solidFill>
                <a:latin typeface="Microsoft YaHei"/>
              </a:rPr>
              <a:t>G0.5 只规定支出次序，不新增额度、不放宽 G1 的任何既有判据；M3/M4/M5 本就是 G1 必需项，本门只把它们提前到花钱之前。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商业篇（八）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资金门禁 G0–G3：证据不到位，钱就不出去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35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F2F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87A70"/>
                </a:solidFill>
                <a:latin typeface="Microsoft YaHei"/>
              </a:rPr>
              <a:t>每道门同时约束工程、商业、质量、责任、现金与组织六个维度，任一硬门未达即自动冻结。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阶段上限与外部 TAM 无关，不因市场情景上修而调整；G0.5 只规定支出次序，不新增任何额度。</a:t>
            </a:r>
          </a:p>
        </p:txBody>
      </p:sp>
      <p:pic>
        <p:nvPicPr>
          <p:cNvPr id="10" name="Picture 9" descr="c22_g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8401" y="1783080"/>
            <a:ext cx="9875166" cy="4562856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风险与结论（一）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五条反命题决定这笔投资是否成立 —— 每条都配有先行指标与自动动作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36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361188"/>
          </a:xfrm>
          <a:prstGeom prst="rect">
            <a:avLst/>
          </a:prstGeom>
          <a:solidFill>
            <a:srgbClr val="FF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B42318"/>
                </a:solidFill>
                <a:latin typeface="Microsoft YaHei"/>
              </a:rPr>
              <a:t>内部阈值是管理门禁，不代表行业事实，须由董事会、客户合同与试制数据持续校准。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604772"/>
          <a:ext cx="11186128" cy="31455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7170"/>
                <a:gridCol w="1100275"/>
                <a:gridCol w="3300825"/>
                <a:gridCol w="4767858"/>
              </a:tblGrid>
              <a:tr h="31089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风险 / 反命题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概率 / 影响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先行指标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内部阈值与自动动作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</a:tr>
              <a:tr h="56692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并网 / 施工延期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B42318"/>
                          </a:solidFill>
                          <a:latin typeface="Microsoft YaHei"/>
                        </a:rPr>
                        <a:t>高 / 高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接电协议、NTP、施工里程碑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缺电力、开工、平台任两项：移出 24 个月 SAM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Hyperscaler CapEx 放缓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9A6700"/>
                          </a:solidFill>
                          <a:latin typeface="Microsoft YaHei"/>
                        </a:rPr>
                        <a:t>中 / 高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四大云厂商指引与资产减值；IDC AI 基础设施季度修正方向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连续两季显著下修：冻结二期扩产，并把 2.6 章情景切换到 A-基准 / A-受限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OEM 指定 / 垂直整合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B42318"/>
                          </a:solidFill>
                          <a:latin typeface="Microsoft YaHei"/>
                        </a:rPr>
                        <a:t>高 / 高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RFQ 中指定 CDU 或 AVL 的比例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多数目标项目排除独立供应商：转 ODM、部件或服务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价格降幅快于成本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B42318"/>
                          </a:solidFill>
                          <a:latin typeface="Microsoft YaHei"/>
                        </a:rPr>
                        <a:t>高 / 高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同工况 RFQ / 合同价、完全成本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现金调整后贡献持续为负：停止扩产并重定价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66928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重大漏液 / 失流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B42318"/>
                          </a:solidFill>
                          <a:latin typeface="Microsoft YaHei"/>
                        </a:rPr>
                        <a:t>中 / 极高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FAT/SAT 缺陷、现场告警、质保索赔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重大事件：停发货、隔离批次、8D 与保险通知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02920" y="4933188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415A"/>
                </a:solidFill>
                <a:latin typeface="Microsoft YaHei"/>
              </a:rPr>
              <a:t>另有五条同等重要的反命题（报告第 11 章）：算力投资融资条件收紧、回款与营运资金、GPU 许可 / 项目合规、水 / PFAS / F-gas 约束、来源口径与版本漂移。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5D687A"/>
                </a:solidFill>
                <a:latin typeface="Microsoft YaHei"/>
              </a:rPr>
              <a:t>六条核心结论各自的 invalidate_if 与本表互为补充：结论 5 的失效条件为 IDC 连续两季下修 AI 支出、Dell'Oro 再次重划 DCPI 边界、JLL 单位建设成本转降。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风险与结论（二）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季度跟踪清单：先行指标一旦触发，模型与资金动作是预先约定的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37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361188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2239"/>
                </a:solidFill>
                <a:latin typeface="Microsoft YaHei"/>
              </a:rPr>
              <a:t>跟踪的目的是让模型失效可被提前发现，而不是事后解释。新版发布即复核，禁止跨版本拼接序列。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02920" y="1604772"/>
          <a:ext cx="11186127" cy="305409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7170"/>
                <a:gridCol w="3850962"/>
                <a:gridCol w="1467033"/>
                <a:gridCol w="3850962"/>
              </a:tblGrid>
              <a:tr h="310896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跟踪对象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先行指标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频率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1050" b="1">
                          <a:solidFill>
                            <a:srgbClr val="FFFFFF"/>
                          </a:solidFill>
                          <a:latin typeface="Microsoft YaHei"/>
                        </a:rPr>
                        <a:t>触发的模型 / 管理动作</a:t>
                      </a:r>
                    </a:p>
                  </a:txBody>
                  <a:tcPr marL="73152" marR="54864" marT="36576" marB="36576" anchor="ctr">
                    <a:solidFill>
                      <a:srgbClr val="0B2239"/>
                    </a:solidFill>
                  </a:tcPr>
                </a:tc>
              </a:tr>
              <a:tr h="548640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投运晚于管线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获电、NTP、施工、延迟率、并网周期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175CD3"/>
                          </a:solidFill>
                          <a:latin typeface="Microsoft YaHei"/>
                        </a:rPr>
                        <a:t>季度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下调新增投运与改造；不把 announced MW 计入 SAM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AI 份额 / 密度偏低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AI 服务器与整柜出货、平均液冷 kW、推理占比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175CD3"/>
                          </a:solidFill>
                          <a:latin typeface="Microsoft YaHei"/>
                        </a:rPr>
                        <a:t>季度 / 平台代际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下调采用率与价值 / MW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48640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价格与垂直整合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同工况报价、OEM 指定率、制造商收入 ÷ 液冷 MW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175CD3"/>
                          </a:solidFill>
                          <a:latin typeface="Microsoft YaHei"/>
                        </a:rPr>
                        <a:t>半年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区分瓦数增长与收入增长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来源边界漂移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Dell'Oro、JLL、IEA、IDC、McKinsey 新版定义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B42318"/>
                          </a:solidFill>
                          <a:latin typeface="Microsoft YaHei"/>
                        </a:rPr>
                        <a:t>新版即复核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禁止跨版本拼序列，重设端点并重估三组占比</a:t>
                      </a:r>
                    </a:p>
                  </a:txBody>
                  <a:tcPr marL="73152" marR="54864" marT="36576" marB="36576" anchor="ctr">
                    <a:solidFill>
                      <a:srgbClr val="F6F8FA"/>
                    </a:solidFill>
                  </a:tcPr>
                </a:tc>
              </a:tr>
              <a:tr h="548640"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0B2239"/>
                          </a:solidFill>
                          <a:latin typeface="Microsoft YaHei"/>
                        </a:rPr>
                        <a:t>公司侧证据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付费 PoC、同边界合同价、试制批次、DSO / 峰值资金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1">
                          <a:solidFill>
                            <a:srgbClr val="175CD3"/>
                          </a:solidFill>
                          <a:latin typeface="Microsoft YaHei"/>
                        </a:rPr>
                        <a:t>月度 / 每周现金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0" rIns="0"/>
                    <a:lstStyle/>
                    <a:p>
                      <a:pPr>
                        <a:lnSpc>
                          <a:spcPct val="114000"/>
                        </a:lnSpc>
                      </a:pPr>
                      <a:r>
                        <a:rPr sz="950" b="0">
                          <a:solidFill>
                            <a:srgbClr val="33415A"/>
                          </a:solidFill>
                          <a:latin typeface="Microsoft YaHei"/>
                        </a:rPr>
                        <a:t>达标才解锁阶段 2/3；未达自动冻结招聘与非关键 CapEx</a:t>
                      </a:r>
                    </a:p>
                  </a:txBody>
                  <a:tcPr marL="73152" marR="54864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4860036"/>
            <a:ext cx="5501624" cy="859536"/>
          </a:xfrm>
          <a:prstGeom prst="rect">
            <a:avLst/>
          </a:prstGeom>
          <a:solidFill>
            <a:srgbClr val="EAF1FD"/>
          </a:solidFill>
          <a:ln w="9525">
            <a:solidFill>
              <a:srgbClr val="C9D8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46304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175CD3"/>
                </a:solidFill>
                <a:latin typeface="Microsoft YaHei"/>
              </a:rPr>
              <a:t>有效期与复核触发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0" i="0">
                <a:solidFill>
                  <a:srgbClr val="33415A"/>
                </a:solidFill>
                <a:latin typeface="Microsoft YaHei"/>
              </a:rPr>
              <a:t>总体结论 valid_until 2026-11-30；2.6 / 2.7 章 valid_until 2027-02-28。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0" i="0">
                <a:solidFill>
                  <a:srgbClr val="33415A"/>
                </a:solidFill>
                <a:latin typeface="Microsoft YaHei"/>
              </a:rPr>
              <a:t>并购方新季报、平台新 revision、正式招标合同、项目状态变化或重大可靠性事故将提前触发复核。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87424" y="4860036"/>
            <a:ext cx="5501624" cy="859536"/>
          </a:xfrm>
          <a:prstGeom prst="rect">
            <a:avLst/>
          </a:prstGeom>
          <a:solidFill>
            <a:srgbClr val="FFF7E8"/>
          </a:solidFill>
          <a:ln w="9525">
            <a:solidFill>
              <a:srgbClr val="F0D9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 lIns="146304"/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9A6700"/>
                </a:solidFill>
                <a:latin typeface="Microsoft YaHei"/>
              </a:rPr>
              <a:t>研究充分性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0" i="0">
                <a:solidFill>
                  <a:srgbClr val="33415A"/>
                </a:solidFill>
                <a:latin typeface="Microsoft YaHei"/>
              </a:rPr>
              <a:t>SUFFICIENT WITH LIMITATIONS —— 足以重写报告，不等于商业参数或量产可行性已验证。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0" i="0">
                <a:solidFill>
                  <a:srgbClr val="33415A"/>
                </a:solidFill>
                <a:latin typeface="Microsoft YaHei"/>
              </a:rPr>
              <a:t>继续泛搜不替代管理层线下取证。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46304"/>
            <a:ext cx="11186129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1" i="0">
                <a:solidFill>
                  <a:srgbClr val="175CD3"/>
                </a:solidFill>
                <a:latin typeface="Microsoft YaHei"/>
              </a:rPr>
              <a:t>风险与结论（三）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29184"/>
            <a:ext cx="11186129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0B2239"/>
                </a:solidFill>
                <a:latin typeface="Microsoft YaHei"/>
              </a:rPr>
              <a:t>下一步不是扩大研究，也不是做样机 —— 是用 &lt; 5 万元、6–8 周拿到四项书面证据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86129" cy="15240"/>
          </a:xfrm>
          <a:prstGeom prst="rect">
            <a:avLst/>
          </a:prstGeom>
          <a:solidFill>
            <a:srgbClr val="D8DF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371600" cy="30480"/>
          </a:xfrm>
          <a:prstGeom prst="rect">
            <a:avLst/>
          </a:prstGeom>
          <a:solidFill>
            <a:srgbClr val="175C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55664"/>
            <a:ext cx="469817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5D687A"/>
                </a:solidFill>
                <a:latin typeface="Microsoft YaHei"/>
              </a:rPr>
              <a:t>算力冷却商业调研报告 · v3.3 Evidence-led · 数据截止 2026-09-05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201094" y="6455664"/>
            <a:ext cx="3803284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 i="0">
                <a:solidFill>
                  <a:srgbClr val="B42318"/>
                </a:solidFill>
                <a:latin typeface="Microsoft YaHei"/>
              </a:rPr>
              <a:t>机密 · 仅供董事会与核心团队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28101" y="6455664"/>
            <a:ext cx="246094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900" b="1" i="0">
                <a:solidFill>
                  <a:srgbClr val="5D687A"/>
                </a:solidFill>
                <a:latin typeface="Microsoft YaHei"/>
              </a:rPr>
              <a:t>38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097280"/>
            <a:ext cx="11186129" cy="576072"/>
          </a:xfrm>
          <a:prstGeom prst="rect">
            <a:avLst/>
          </a:prstGeom>
          <a:solidFill>
            <a:srgbClr val="EA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64008" bIns="54864" lIns="146304"/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0B2239"/>
                </a:solidFill>
                <a:latin typeface="Microsoft YaHei"/>
              </a:rPr>
              <a:t>本轮可批准：阶段 1 上限 800 万元内的架构、付费 PoC、供应链 / NPI、软件 / IP 与责任验证，以及四项前置取证。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33415A"/>
                </a:solidFill>
                <a:latin typeface="Microsoft YaHei"/>
              </a:rPr>
              <a:t>本轮不可批准：在四项证据齐备前启动样机物料、工装与 NRE 采购（含「先小批量试做」）；无订单扩产；无限责任项目。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837944"/>
            <a:ext cx="5483336" cy="3803904"/>
          </a:xfrm>
          <a:prstGeom prst="rect">
            <a:avLst/>
          </a:prstGeom>
          <a:solidFill>
            <a:srgbClr val="FAFCFF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1837944"/>
            <a:ext cx="5483336" cy="384048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" y="1920240"/>
            <a:ext cx="519072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</a:rPr>
              <a:t>四项前置证据（BP v2.2 §12.1 · G0.5 前置证据门）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" y="2386584"/>
            <a:ext cx="5190728" cy="31638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6000"/>
              </a:lnSpc>
              <a:spcAft>
                <a:spcPts val="700"/>
              </a:spcAft>
            </a:pPr>
            <a:r>
              <a:rPr sz="1060" b="1">
                <a:solidFill>
                  <a:srgbClr val="175CD3"/>
                </a:solidFill>
                <a:latin typeface="Microsoft YaHei"/>
              </a:rPr>
              <a:t>M1　四 SKU 关键件书面报价
</a:t>
            </a:r>
            <a:r>
              <a:rPr sz="919">
                <a:solidFill>
                  <a:srgbClr val="33415A"/>
                </a:solidFill>
                <a:latin typeface="Microsoft YaHei"/>
              </a:rPr>
              <a:t>每类 ≥2 家，含 MOQ / 阶梯价 / 交期 / 质保 / 付款。决定 BOM 能否落到 275–450 元/kW，即单位经济是否可能为正。4–6 周 · ≈0</a:t>
            </a:r>
          </a:p>
          <a:p>
            <a:pPr>
              <a:lnSpc>
                <a:spcPct val="126000"/>
              </a:lnSpc>
              <a:spcAft>
                <a:spcPts val="700"/>
              </a:spcAft>
            </a:pPr>
            <a:r>
              <a:rPr sz="1060" b="1">
                <a:solidFill>
                  <a:srgbClr val="175CD3"/>
                </a:solidFill>
                <a:latin typeface="Microsoft YaHei"/>
              </a:rPr>
              <a:t>M3　责任条款 + 保险报价
</a:t>
            </a:r>
            <a:r>
              <a:rPr sz="919">
                <a:solidFill>
                  <a:srgbClr val="33415A"/>
                </a:solidFill>
                <a:latin typeface="Microsoft YaHei"/>
              </a:rPr>
              <a:t>客户书面责任条款草案 + 产品责任险报价（冷却液释放须明列承保）。决定最坏情景是否会毁掉公司。4–8 周 · 1–3 万元</a:t>
            </a:r>
          </a:p>
          <a:p>
            <a:pPr>
              <a:lnSpc>
                <a:spcPct val="126000"/>
              </a:lnSpc>
              <a:spcAft>
                <a:spcPts val="700"/>
              </a:spcAft>
            </a:pPr>
            <a:r>
              <a:rPr sz="1060" b="1">
                <a:solidFill>
                  <a:srgbClr val="175CD3"/>
                </a:solidFill>
                <a:latin typeface="Microsoft YaHei"/>
              </a:rPr>
              <a:t>M4　客户书面付款条款
</a:t>
            </a:r>
            <a:r>
              <a:rPr sz="919">
                <a:solidFill>
                  <a:srgbClr val="33415A"/>
                </a:solidFill>
                <a:latin typeface="Microsoft YaHei"/>
              </a:rPr>
              <a:t>预付款比例、里程碑比例、账期起算日、质保金 / 保函形式四项齐备。决定并行项目数与现金红线。2–4 周 · ≈0</a:t>
            </a:r>
          </a:p>
          <a:p>
            <a:pPr>
              <a:lnSpc>
                <a:spcPct val="126000"/>
              </a:lnSpc>
              <a:spcAft>
                <a:spcPts val="700"/>
              </a:spcAft>
            </a:pPr>
            <a:r>
              <a:rPr sz="1060" b="1">
                <a:solidFill>
                  <a:srgbClr val="175CD3"/>
                </a:solidFill>
                <a:latin typeface="Microsoft YaHei"/>
              </a:rPr>
              <a:t>M5　客户书面平台包
</a:t>
            </a:r>
            <a:r>
              <a:rPr sz="919">
                <a:solidFill>
                  <a:srgbClr val="33415A"/>
                </a:solidFill>
                <a:latin typeface="Microsoft YaHei"/>
              </a:rPr>
              <a:t>TCS/FWS 温度、Q–ΔP、工质、wetted materials、HCR、冗余与故障态。决定样机设计是否有效。4–8 周 · ≈0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05712" y="1837944"/>
            <a:ext cx="5483336" cy="1481328"/>
          </a:xfrm>
          <a:prstGeom prst="rect">
            <a:avLst/>
          </a:prstGeom>
          <a:solidFill>
            <a:srgbClr val="FFF7F6"/>
          </a:solidFill>
          <a:ln w="9525">
            <a:solidFill>
              <a:srgbClr val="F6C8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05712" y="1837944"/>
            <a:ext cx="5483336" cy="384048"/>
          </a:xfrm>
          <a:prstGeom prst="rect">
            <a:avLst/>
          </a:prstGeom>
          <a:solidFill>
            <a:srgbClr val="B4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2016" y="1920240"/>
            <a:ext cx="519072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</a:rPr>
              <a:t>为什么次序比速度重要：保护比 49 :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2016" y="2368296"/>
            <a:ext cx="5190728" cy="8961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 i="0">
                <a:solidFill>
                  <a:srgbClr val="33415A"/>
                </a:solidFill>
                <a:latin typeface="Microsoft YaHei"/>
              </a:rPr>
              <a:t>四项证据合计 &lt; 5 万元、6–8 周，决定 245 万元（NRE 115 + 样机 130）该不该花。</a:t>
            </a:r>
          </a:p>
          <a:p>
            <a:pPr algn="l">
              <a:lnSpc>
                <a:spcPct val="132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0" i="0">
                <a:solidFill>
                  <a:srgbClr val="B42318"/>
                </a:solidFill>
                <a:latin typeface="Microsoft YaHei"/>
              </a:rPr>
              <a:t>245 万元占阶段一 800 万元上限的 30.6%，且是阶段一唯一一笔不可回收的大额支出。复算：(115 + 130) ÷ 5 = 49.0。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05712" y="3447288"/>
            <a:ext cx="5483336" cy="1170432"/>
          </a:xfrm>
          <a:prstGeom prst="rect">
            <a:avLst/>
          </a:prstGeom>
          <a:solidFill>
            <a:srgbClr val="F2FBF7"/>
          </a:solidFill>
          <a:ln w="9525">
            <a:solidFill>
              <a:srgbClr val="B6E4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05712" y="3447288"/>
            <a:ext cx="5483336" cy="384048"/>
          </a:xfrm>
          <a:prstGeom prst="rect">
            <a:avLst/>
          </a:prstGeom>
          <a:solidFill>
            <a:srgbClr val="08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2016" y="3529584"/>
            <a:ext cx="5190728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Microsoft YaHei"/>
              </a:rPr>
              <a:t>阶段一目标改写为证据里程碑（BP v2.2 §14.2）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2016" y="3977639"/>
            <a:ext cx="5190728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0" i="0">
                <a:solidFill>
                  <a:srgbClr val="33415A"/>
                </a:solidFill>
                <a:latin typeface="Microsoft YaHei"/>
              </a:rPr>
              <a:t>在 B2 = 1、年吞吐 1.86 MW 的现金约束下，任何「阶段一收入 X 万元」目标在数学上都要求突破 B1 / B2 现金安全底线。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400"/>
              </a:spcAft>
            </a:pPr>
            <a:r>
              <a:rPr sz="940" b="0" i="0">
                <a:solidFill>
                  <a:srgbClr val="087A70"/>
                </a:solidFill>
                <a:latin typeface="Microsoft YaHei"/>
              </a:rPr>
              <a:t>董事会月报不再报收入达成率，改报最小验证集十项的取得状态。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05712" y="4745736"/>
            <a:ext cx="5483336" cy="896112"/>
          </a:xfrm>
          <a:prstGeom prst="rect">
            <a:avLst/>
          </a:prstGeom>
          <a:solidFill>
            <a:srgbClr val="F6F8FA"/>
          </a:solidFill>
          <a:ln w="9525"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2016" y="4837176"/>
            <a:ext cx="5190728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1" i="0">
                <a:solidFill>
                  <a:srgbClr val="0B2239"/>
                </a:solidFill>
                <a:latin typeface="Microsoft YaHei"/>
              </a:rPr>
              <a:t>在 PPT 中保持「无数据」的项目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400"/>
              </a:spcAft>
            </a:pPr>
            <a:r>
              <a:rPr sz="880" b="0" i="0">
                <a:solidFill>
                  <a:srgbClr val="33415A"/>
                </a:solidFill>
                <a:latin typeface="Microsoft YaHei"/>
              </a:rPr>
              <a:t>SAM 24m · SOM · CDU 净 ASP · 四 SKU BOM 与毛利 · 贡献毛利 / ROIC / 盈亏平衡 · CDU 有效能力矩阵。已删除且不予恢复：市场份额、部件价值占比、通用毛利率、CDU 静态 ASP、MTBF 与「零外漏」。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769864"/>
            <a:ext cx="11186129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 i="0">
                <a:solidFill>
                  <a:srgbClr val="0B2239"/>
                </a:solidFill>
                <a:latin typeface="Microsoft YaHei"/>
              </a:rPr>
              <a:t>最终裁决：先用 &lt; 5 万元买清楚四个答案，再决定是否投入 245 万元 —— 而不是先做样机再找客户。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0B22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91440"/>
          </a:xfrm>
          <a:prstGeom prst="rect">
            <a:avLst/>
          </a:prstGeom>
          <a:solidFill>
            <a:srgbClr val="087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48840"/>
            <a:ext cx="100584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Microsoft YaHei"/>
              </a:rPr>
              <a:t>算力冷却商业调研报告 · v3.3 Evidence-led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85292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C9D8FF"/>
                </a:solidFill>
                <a:latin typeface="Microsoft YaHei"/>
              </a:rPr>
              <a:t>演示版 / 20260906　·　数据截止 2026-09-05　·　配套《算力冷却系统新业务BP》v2.2_20260906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429000"/>
            <a:ext cx="9966960" cy="15240"/>
          </a:xfrm>
          <a:prstGeom prst="rect">
            <a:avLst/>
          </a:prstGeom>
          <a:solidFill>
            <a:srgbClr val="2A47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39312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FB3CC"/>
                </a:solidFill>
                <a:latin typeface="Microsoft YaHei"/>
              </a:rPr>
              <a:t>本演示稿由《算力冷却商业调研报告 v3.3》与《算力冷却_验证与决策包 v1.0》整理而成，全部数据取自该两份文件正文，</a:t>
            </a:r>
          </a:p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FB3CC"/>
                </a:solidFill>
                <a:latin typeface="Microsoft YaHei"/>
              </a:rPr>
              <a:t>未引入其中没有的数字，未恢复已删除的伪精确点值。全部倒推结论回答「必须达到什么」，不回答「将会达到什么」。</a:t>
            </a:r>
          </a:p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FB3CC"/>
                </a:solidFill>
                <a:latin typeface="Microsoft YaHei"/>
              </a:rPr>
              <a:t>三级来源（GPU 基板 3.5–5.0 万美元、责任上限 10%–20%、年降 5%–8%、海外 200–240 美元/kW）已保留等级标注，不得写成行业事实。</a:t>
            </a:r>
          </a:p>
          <a:p>
            <a:pPr algn="l">
              <a:lnSpc>
                <a:spcPct val="162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9FB3CC"/>
                </a:solidFill>
                <a:latin typeface="Microsoft YaHei"/>
              </a:rPr>
              <a:t>所有图表为本演示稿自绘（matplotlib + python-pptx），不含任何来源不明的外部图片。总体结论 valid_until 2026-11-30。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5358384"/>
            <a:ext cx="4023360" cy="402336"/>
          </a:xfrm>
          <a:prstGeom prst="rect">
            <a:avLst/>
          </a:prstGeom>
          <a:solidFill>
            <a:srgbClr val="5B14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61872" y="5449824"/>
            <a:ext cx="384048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1" i="0">
                <a:solidFill>
                  <a:srgbClr val="FFC9C4"/>
                </a:solidFill>
                <a:latin typeface="Microsoft YaHei"/>
              </a:rPr>
              <a:t>机密 · 仅供董事会与核心团队讨论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80289" y="5449824"/>
            <a:ext cx="14630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 i="0">
                <a:solidFill>
                  <a:srgbClr val="6E86A6"/>
                </a:solidFill>
                <a:latin typeface="Microsoft YaHei"/>
              </a:rPr>
              <a:t>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