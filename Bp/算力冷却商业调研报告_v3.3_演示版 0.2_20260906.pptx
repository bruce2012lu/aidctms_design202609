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0" r:id="rId12"/>
    <p:sldId id="272" r:id="rId13"/>
    <p:sldId id="274" r:id="rId14"/>
    <p:sldId id="275" r:id="rId15"/>
    <p:sldId id="276" r:id="rId16"/>
    <p:sldId id="277" r:id="rId17"/>
    <p:sldId id="278" r:id="rId18"/>
    <p:sldId id="280" r:id="rId19"/>
    <p:sldId id="281" r:id="rId20"/>
    <p:sldId id="282" r:id="rId21"/>
    <p:sldId id="283" r:id="rId22"/>
    <p:sldId id="284" r:id="rId23"/>
    <p:sldId id="285" r:id="rId24"/>
    <p:sldId id="289" r:id="rId25"/>
    <p:sldId id="290" r:id="rId26"/>
    <p:sldId id="293" r:id="rId27"/>
    <p:sldId id="29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22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FB4E8"/>
                </a:solidFill>
                <a:latin typeface="微软雅黑" panose="020B0503020204020204" charset="-122"/>
              </a:rPr>
              <a:t>Commercial Research Report · 演示版 / 20260906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4241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微软雅黑" panose="020B0503020204020204" charset="-122"/>
              </a:rPr>
              <a:t>算力冷却商业调研报告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C9D8FF"/>
                </a:solidFill>
                <a:latin typeface="微软雅黑" panose="020B0503020204020204" charset="-122"/>
              </a:rPr>
              <a:t>高密 AI 基础设施液冷：需求、算力基建投资、液冷占比、工程边界、竞争、准入、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C9D8FF"/>
                </a:solidFill>
                <a:latin typeface="微软雅黑" panose="020B0503020204020204" charset="-122"/>
              </a:rPr>
              <a:t>项目池与验证期权　·　v3.3 补入分部毛利实证、单位容量价格上限与验证路径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18688"/>
            <a:ext cx="10332720" cy="15240"/>
          </a:xfrm>
          <a:prstGeom prst="rect">
            <a:avLst/>
          </a:prstGeom>
          <a:solidFill>
            <a:srgbClr val="2A4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微软雅黑" panose="020B0503020204020204" charset="-122"/>
              </a:rPr>
              <a:t>版本：</a:t>
            </a:r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v3.3 Evidence-led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84648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微软雅黑" panose="020B0503020204020204" charset="-122"/>
              </a:rPr>
              <a:t>市场序列口径：</a:t>
            </a:r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2026-08-22（未变）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742432"/>
            <a:ext cx="3703320" cy="384048"/>
          </a:xfrm>
          <a:prstGeom prst="rect">
            <a:avLst/>
          </a:prstGeom>
          <a:solidFill>
            <a:srgbClr val="5B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0704" y="582472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C9C4"/>
                </a:solidFill>
                <a:latin typeface="微软雅黑" panose="020B0503020204020204" charset="-122"/>
              </a:rPr>
              <a:t>机密 · 仅供董事会与核心团队讨论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7607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FA4BE"/>
                </a:solidFill>
                <a:latin typeface="微软雅黑" panose="020B0503020204020204" charset="-122"/>
              </a:rPr>
              <a:t>本报告不构成证券投资建议、产品认证或采购承诺。总体结论 valid_until 2026-11-30；投资与占比章节 2027-02-28；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FA4BE"/>
                </a:solidFill>
                <a:latin typeface="微软雅黑" panose="020B0503020204020204" charset="-122"/>
              </a:rPr>
              <a:t>价格与现金实证 2026-12-31；责任结构 2027-03-31。本演示稿不修改任何既有报告、BP 与演示稿文件。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结论先行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需求方向成立；四个缺口已由决策包转化为条件、可行域、敞口与生存条件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微软雅黑" panose="020B0503020204020204" charset="-122"/>
              </a:rPr>
              <a:t>当前证据只支持「受客户、工程、责任与现金门禁约束的小规模验证期权」，不支持按行业 CAGR 批准量产扩张。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「已明确验证路径」不等于「已验证」：研究充分性裁决仍为 SUFFICIENT WITH LIMITATIONS，SAM/SOM 仍为无数据。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1965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19656"/>
            <a:ext cx="50292" cy="1298448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75CD3"/>
                </a:solidFill>
                <a:latin typeface="微软雅黑" panose="020B0503020204020204" charset="-122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901952"/>
            <a:ext cx="474267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微软雅黑" panose="020B0503020204020204" charset="-122"/>
              </a:rPr>
              <a:t>需求方向强，口径不可相加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386584"/>
            <a:ext cx="47426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0" i="0">
                <a:solidFill>
                  <a:srgbClr val="33415A"/>
                </a:solidFill>
                <a:latin typeface="微软雅黑" panose="020B0503020204020204" charset="-122"/>
              </a:rPr>
              <a:t>设备、整机、宽产业是不同分母，任何两项不得相加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2852928"/>
            <a:ext cx="4742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175CD3"/>
                </a:solidFill>
                <a:latin typeface="微软雅黑" panose="020B0503020204020204" charset="-122"/>
              </a:rPr>
              <a:t>置信度 / valid_until：0.92 / 2027-01-31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144" y="181965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33144" y="1819656"/>
            <a:ext cx="50292" cy="1298448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6024" y="19202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75CD3"/>
                </a:solidFill>
                <a:latin typeface="微软雅黑" panose="020B0503020204020204" charset="-122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3496" y="1901952"/>
            <a:ext cx="474267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微软雅黑" panose="020B0503020204020204" charset="-122"/>
              </a:rPr>
              <a:t>工程壁垒是平台级适配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3496" y="2386584"/>
            <a:ext cx="47426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0" i="0">
                <a:solidFill>
                  <a:srgbClr val="33415A"/>
                </a:solidFill>
                <a:latin typeface="微软雅黑" panose="020B0503020204020204" charset="-122"/>
              </a:rPr>
              <a:t>铭牌冷量不能证明平台兼容；水力、材料、冗余与故障态共同决定可用性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3496" y="2852928"/>
            <a:ext cx="4742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175CD3"/>
                </a:solidFill>
                <a:latin typeface="微软雅黑" panose="020B0503020204020204" charset="-122"/>
              </a:rPr>
              <a:t>置信度 / valid_until：0.94 / 2026-11-30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8269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282696"/>
            <a:ext cx="50292" cy="12984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383279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87A70"/>
                </a:solidFill>
                <a:latin typeface="微软雅黑" panose="020B0503020204020204" charset="-122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3364991"/>
            <a:ext cx="474267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微软雅黑" panose="020B0503020204020204" charset="-122"/>
              </a:rPr>
              <a:t>增长不保证高毛利；毛利集中在海外与服务侧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3849624"/>
            <a:ext cx="47426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0" i="0">
                <a:solidFill>
                  <a:srgbClr val="33415A"/>
                </a:solidFill>
                <a:latin typeface="微软雅黑" panose="020B0503020204020204" charset="-122"/>
              </a:rPr>
              <a:t>三家一手年报：英维克境外 52.64% vs 境内 23.83%；申菱方案服务 31.63% vs 设备 21.46%；曙光服务 51.02% vs 冷板 10.36%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4315968"/>
            <a:ext cx="4742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087A70"/>
                </a:solidFill>
                <a:latin typeface="微软雅黑" panose="020B0503020204020204" charset="-122"/>
              </a:rPr>
              <a:t>置信度 / valid_until：披露事实 0.93；方向可迁移性 0.70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3144" y="328269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33144" y="3282696"/>
            <a:ext cx="50292" cy="12984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6024" y="3383279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87A70"/>
                </a:solidFill>
                <a:latin typeface="微软雅黑" panose="020B0503020204020204" charset="-122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3496" y="3364991"/>
            <a:ext cx="474267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微软雅黑" panose="020B0503020204020204" charset="-122"/>
              </a:rPr>
              <a:t>公开招标不能验证单位经济，但已能约束价格可行域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3496" y="3849624"/>
            <a:ext cx="47426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0" i="0">
                <a:solidFill>
                  <a:srgbClr val="33415A"/>
                </a:solidFill>
                <a:latin typeface="微软雅黑" panose="020B0503020204020204" charset="-122"/>
              </a:rPr>
              <a:t>两个包价样本折算收敛在 684.75–715.00 元/kW（差 4.4%），可作 300–500 kW 档价格上限边界，不是价格预测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3496" y="4315968"/>
            <a:ext cx="4742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087A70"/>
                </a:solidFill>
                <a:latin typeface="微软雅黑" panose="020B0503020204020204" charset="-122"/>
              </a:rPr>
              <a:t>置信度 / valid_until：0.96；折算值 0.85 / 2026-12-31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4573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4745736"/>
            <a:ext cx="50292" cy="1298448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484632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9A6700"/>
                </a:solidFill>
                <a:latin typeface="微软雅黑" panose="020B0503020204020204" charset="-122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" y="4828031"/>
            <a:ext cx="474267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微软雅黑" panose="020B0503020204020204" charset="-122"/>
              </a:rPr>
              <a:t>液冷在算力投资中价值占比极低，且高度依赖分母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5312664"/>
            <a:ext cx="47426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0" i="0">
                <a:solidFill>
                  <a:srgbClr val="33415A"/>
                </a:solidFill>
                <a:latin typeface="微软雅黑" panose="020B0503020204020204" charset="-122"/>
              </a:rPr>
              <a:t>占总投资长期不到 1%，占设施侧约 1%–6%，占 DCPI 约 5%–11%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" y="5779007"/>
            <a:ext cx="4742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9A6700"/>
                </a:solidFill>
                <a:latin typeface="微软雅黑" panose="020B0503020204020204" charset="-122"/>
              </a:rPr>
              <a:t>置信度 / valid_until：相对量级 0.80；任一点值 0.35 / 2027-02-28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3144" y="474573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33144" y="4745736"/>
            <a:ext cx="50292" cy="12984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16024" y="484632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42318"/>
                </a:solidFill>
                <a:latin typeface="微软雅黑" panose="020B0503020204020204" charset="-122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3496" y="4828031"/>
            <a:ext cx="474267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微软雅黑" panose="020B0503020204020204" charset="-122"/>
              </a:rPr>
              <a:t>最优策略是验证期权，且取证必须先于样机支出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3496" y="5312664"/>
            <a:ext cx="47426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0" i="0">
                <a:solidFill>
                  <a:srgbClr val="33415A"/>
                </a:solidFill>
                <a:latin typeface="微软雅黑" panose="020B0503020204020204" charset="-122"/>
              </a:rPr>
              <a:t>四项前置证据 &lt; 5 万元、6–8 周，保护 245 万元样机与 NRE 支出，保护比 49:1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3496" y="5779007"/>
            <a:ext cx="4742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B42318"/>
                </a:solidFill>
                <a:latin typeface="微软雅黑" panose="020B0503020204020204" charset="-122"/>
              </a:rPr>
              <a:t>置信度 / valid_until：0.88 / 2026-12-31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市场篇（一）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需求方向没有争议：用电五年翻倍、容量需求五年增 1.7 倍，但三条曲线分母不同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微软雅黑" panose="020B0503020204020204" charset="-122"/>
              </a:rPr>
              <a:t>2025 → 2030 机构端点：用电 485 → 950 TWh（IEA）；关键 IT 需求 82 → 219 GW（McKinsey）；设施供给 103 → 200 GW（JLL）。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需求 219 GW 高于供给 200 GW 不等于订单缺口：两者定义、基准、时点、占用与可交付性不同，不可相减。</a:t>
            </a:r>
          </a:p>
        </p:txBody>
      </p:sp>
      <p:pic>
        <p:nvPicPr>
          <p:cNvPr id="10" name="Picture 9" descr="c01_power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市场篇（二）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机柜功率密度在一代内从 66 kW 跃到 264 kW —— 风冷延寿空间被物理压缩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微软雅黑" panose="020B0503020204020204" charset="-122"/>
              </a:rPr>
              <a:t>Dell'Oro 称「1 MW 机柜正在临近」；NVIDIA Rubin 路线称 100% 液冷，Vera Rubin 计算托盘取消风扇。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但铭牌功率不是采购依据：Supermicro 250 kW 与 Dell 264 kW 分别是方案移热能力与特定配置最高值，口径不同。</a:t>
            </a:r>
          </a:p>
        </p:txBody>
      </p:sp>
      <p:pic>
        <p:nvPicPr>
          <p:cNvPr id="10" name="Picture 9" descr="c02_rack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市场篇（三）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真正约束液冷需求的不是规划容量，而是每年实际投运的 10–28 GW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微软雅黑" panose="020B0503020204020204" charset="-122"/>
              </a:rPr>
              <a:t>JLL：2025 年 57% 项目延迟至少 3 个月，主要市场并网平均等待超过 4 年；C&amp;W：全球大负荷平均供电周期 4.4 年。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管理动作：在建与规划 pipeline 不计入当年投运，也不计入任何 SAM；项目预算只跟随已获电、已开工、平台已冻结的批次。</a:t>
            </a:r>
          </a:p>
        </p:txBody>
      </p:sp>
      <p:pic>
        <p:nvPicPr>
          <p:cNvPr id="10" name="Picture 9" descr="c03_new_commissio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92" y="1783080"/>
            <a:ext cx="10006584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微软雅黑" panose="020B0503020204020204" charset="-122"/>
              </a:rPr>
              <a:t>逐年投运量无任何机构发布 —— 全部为本报告由 JLL 累计端点桥接的模型值。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市场篇（四）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AI 占存量容量约 25% → 50%，但占新增容量高达 76% —— 两个分母差一倍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微软雅黑" panose="020B0503020204020204" charset="-122"/>
              </a:rPr>
              <a:t>v3.1 曾把存量份额当作新增份额使用；v3.2 已在表 2.5.2 列名中标明「存量口径」，并单列 65%–82% 的新增份额序列。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这一区分直接决定自下而上模型的 IT 腿：用错分母会把液冷相关容量低估近一半。</a:t>
            </a:r>
          </a:p>
        </p:txBody>
      </p:sp>
      <p:pic>
        <p:nvPicPr>
          <p:cNvPr id="10" name="Picture 9" descr="c04_ai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92" y="1783080"/>
            <a:ext cx="10429385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市场篇（五）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算力基建总投资 2025 年约 6,500–8,050 亿美元，2030 年约 1.64–2.05 万亿美元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微软雅黑" panose="020B0503020204020204" charset="-122"/>
              </a:rPr>
              <a:t>先分层再谈占比：不同机构所称的「数据中心投资」相差十倍以上，主因是层级不同而非数据冲突。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使用边界（强制）：本序列仅用于外部市场锚定与情景分析，不得换算为公司收入预算、SAM/SOM、产能规划、ASP 或毛利率。</a:t>
            </a:r>
          </a:p>
        </p:txBody>
      </p:sp>
      <p:pic>
        <p:nvPicPr>
          <p:cNvPr id="10" name="Picture 9" descr="c05_capex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微软雅黑" panose="020B0503020204020204" charset="-122"/>
              </a:rPr>
              <a:t>confidence 0.72 / valid_until 2027-02-28　·　机构只发布累计口径，全部年度序列为本报告模型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市场篇（六）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两条独立路径交叉验证后的裁决：McKinsey 6.7 万亿基准情景已过时，改用加速情景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微软雅黑" panose="020B0503020204020204" charset="-122"/>
              </a:rPr>
              <a:t>路径 B 的 IT 腿自下而上低估约 36%（容量法 2,040 亿 vs IDC 实测 3,180 亿），四项原因逐条披露，不取平均掩盖。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处置：L1 以路径 B 为主锚（设施侧有 JLL、Epoch AI、Turner &amp; Townsend 三个独立每 MW 证据），L2 以 IDC 实测为主锚。</a:t>
            </a:r>
          </a:p>
        </p:txBody>
      </p:sp>
      <p:pic>
        <p:nvPicPr>
          <p:cNvPr id="10" name="Picture 9" descr="c06_path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微软雅黑" panose="020B0503020204020204" charset="-122"/>
              </a:rPr>
              <a:t>反向风险：加速情景依赖 AI 投资回报持续被市场接受；若 2027 年融资收紧，实际路径可能快速回落到 A-基准甚至 A-受限。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市场篇（七）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四大厂商 CapEx 只作旁证：它证伪了基准情景，但不能除以 L3 得「份额」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微软雅黑" panose="020B0503020204020204" charset="-122"/>
              </a:rPr>
              <a:t>四家使用三种不同 CapEx 定义，含办公、网络骨干、自研芯片预付等非数据中心支出，与全球 L3 口径不同。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四家之外还有 Oracle、xAI、CoreWeave、字节、阿里、腾讯与主权 AI 项目等大量投资主体，因此该表不得相加进 L3。</a:t>
            </a:r>
          </a:p>
        </p:txBody>
      </p:sp>
      <p:pic>
        <p:nvPicPr>
          <p:cNvPr id="10" name="Picture 9" descr="c14_hyperscaler_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12" y="1783080"/>
            <a:ext cx="11035744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市场篇（八）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液冷设备市场：2029 年约 70 亿美元合理，但整条曲线只有两个机构端点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微软雅黑" panose="020B0503020204020204" charset="-122"/>
              </a:rPr>
              <a:t>三重合理性校验（宏观占比、容量强度、机柜强度）均通过量级检查，但都不能独立闭环 —— 只能作异常检查。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董事会外部 TAM 采用 2032 年 90–140 亿美元（本报告模型），Base 约 115 亿；不是机构预测、不是 CDU SAM/SOM、不是公司可得收入。</a:t>
            </a:r>
          </a:p>
        </p:txBody>
      </p:sp>
      <p:pic>
        <p:nvPicPr>
          <p:cNvPr id="10" name="Picture 9" descr="c07_lc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微软雅黑" panose="020B0503020204020204" charset="-122"/>
              </a:rPr>
              <a:t>invalidate_if：Dell'Oro 新版偏离 2029 年 60–80 亿美元；2027–2028 已获电投运或 AI 液冷采用显著落后；设备价格年降幅 &gt;15% 且瓦数/配置不能抵消。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市场篇（十 · 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30 倍差距来自分母层级：L3 ⊃ L1 ⊃ DCPI ⊃ 液冷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微软雅黑" panose="020B0503020204020204" charset="-122"/>
              </a:rPr>
              <a:t>同一分子（液冷设备制造商收入，2029 年约 70 亿美元）依次放进三个嵌套分母：占 L3 约 0.3%–0.5%、占 L1 约 1.7%–2.9%、占 DCPI 约 5%–8%。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饼① 约 81% 是 IT 设备，与液冷供应商无竞争关系；饼② DCPI 以外部分与饼③ 其他品类均无公开细分金额，宁可合并为「其他」也不编造比例。</a:t>
            </a:r>
          </a:p>
        </p:txBody>
      </p:sp>
      <p:pic>
        <p:nvPicPr>
          <p:cNvPr id="10" name="Picture 9" descr="c30_denominator_p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597" y="1783080"/>
            <a:ext cx="9446775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微软雅黑" panose="020B0503020204020204" charset="-122"/>
              </a:rPr>
              <a:t>扇区按表 2.6.5 Base 值绘制、仅示意量级；对外引用一律用区间，并同时写明分母层级与 Dell'Oro 版本。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市场篇（十二）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三组占比各自回答不同的问题 —— 只有组③ 可以谈「份额」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微软雅黑" panose="020B0503020204020204" charset="-122"/>
              </a:rPr>
              <a:t>引用任何一个占比时必须同时写出分母层级与发布版本，否则读者会把两个正确数字当成互相矛盾。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占比高低与新进入者的可得份额之间没有因果关系；分母是全球所有制造商的收入。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3493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80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7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7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组 / 分母</a:t>
                      </a:r>
                    </a:p>
                  </a:txBody>
                  <a:tcPr marL="0" marR="0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结果</a:t>
                      </a:r>
                    </a:p>
                  </a:txBody>
                  <a:tcPr marL="0" marR="0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适用：回答什么问题</a:t>
                      </a:r>
                    </a:p>
                  </a:txBody>
                  <a:tcPr marL="0" marR="0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不适用：不能回答什么</a:t>
                      </a:r>
                    </a:p>
                  </a:txBody>
                  <a:tcPr marL="0" marR="0" marT="36576" marB="36576" anchor="ctr">
                    <a:solidFill>
                      <a:srgbClr val="0B22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0704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87A70"/>
                          </a:solidFill>
                          <a:latin typeface="微软雅黑" panose="020B0503020204020204" charset="-122"/>
                        </a:rPr>
                        <a:t>① L3 算力基建总投资（最宽）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87A70"/>
                          </a:solidFill>
                          <a:latin typeface="微软雅黑" panose="020B0503020204020204" charset="-122"/>
                        </a:rPr>
                        <a:t>0.3%–0.9%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在整个 AI 算力投资盘子里，独立液冷设备的价值占多少。适用于向董事会解释「AI 投资巨大」与「液冷可得收入有限」之间的落差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微软雅黑" panose="020B0503020204020204" charset="-122"/>
                        </a:rPr>
                        <a:t>不适用于评估液冷业务的相对增长性或竞争地位：分母中约 75%–85% 是 IT 设备，与液冷供应商无任何竞争或替代关系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0704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175CD3"/>
                          </a:solidFill>
                          <a:latin typeface="微软雅黑" panose="020B0503020204020204" charset="-122"/>
                        </a:rPr>
                        <a:t>② L1 设施侧 CapEx（中等）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175CD3"/>
                          </a:solidFill>
                          <a:latin typeface="微软雅黑" panose="020B0503020204020204" charset="-122"/>
                        </a:rPr>
                        <a:t>1.3%–5.6%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在数据中心设施建设的每一元里，液冷设备制造商拿到多少。适用于与 EPC、机电总包、配电、UPS 等设施侧品类做相对规模比较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微软雅黑" panose="020B0503020204020204" charset="-122"/>
                        </a:rPr>
                        <a:t>不适用于推导单个项目的液冷成本占比：L1 是全球混合平均，含大量风冷与非 AI 项目；单个高密 AI 项目的液冷占比远高于此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0704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B2239"/>
                          </a:solidFill>
                          <a:latin typeface="微软雅黑" panose="020B0503020204020204" charset="-122"/>
                        </a:rPr>
                        <a:t>③ DCPI 设备市场（最窄、最可比）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B2239"/>
                          </a:solidFill>
                          <a:latin typeface="微软雅黑" panose="020B0503020204020204" charset="-122"/>
                        </a:rPr>
                        <a:t>5%–11%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液冷在物理基础设施设备制造商收入中的结构性权重与趋势。同一机构、同一收入确认规则，液冷是 DCPI 热管理的子集，是三组中唯一可以谈「份额」的分母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微软雅黑" panose="020B0503020204020204" charset="-122"/>
                        </a:rPr>
                        <a:t>不适用于推导公司可得份额：分母已被 Ecolab/CoolIT、Eaton/Boyd、Schneider/Motivair、Vertiv、Modine 及各 OEM 自供占据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495544"/>
            <a:ext cx="11186129" cy="51206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bIns="54864" rtlCol="0" anchor="ctr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2318"/>
                </a:solidFill>
                <a:latin typeface="微软雅黑" panose="020B0503020204020204" charset="-122"/>
              </a:rPr>
              <a:t>极差约 30 倍：2032 年 0.4%（组①下界）对 11%（组③上界）；2025 年 0.3% 对 9%。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A"/>
                </a:solidFill>
                <a:latin typeface="微软雅黑" panose="020B0503020204020204" charset="-122"/>
              </a:rPr>
              <a:t>用组③ 的量级去论证组① 的商业空间，会把可得市场高估一个量级以上。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市场篇（十四）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占比不是稳定参数：四项推高、四项压低、一项方向不确定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微软雅黑" panose="020B0503020204020204" charset="-122"/>
              </a:rPr>
              <a:t>2030 年组①、组② 同时出现台阶，主要来自 Dell'Oro 新版 DLC「超过 80 亿美元」造成的预测版本跳点，不解释为有机改善。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其中「OEM/ODM 垂直整合」与「设施侧 EPC 吃掉价值」两项对独立供应商的杀伤最直接。</a:t>
            </a:r>
          </a:p>
        </p:txBody>
      </p:sp>
      <p:pic>
        <p:nvPicPr>
          <p:cNvPr id="10" name="Picture 9" descr="c25_share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8" y="1783080"/>
            <a:ext cx="10289393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技术与格局篇（一）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技术路线按成熟度三分：只有第一层已产品化，后两层不给性能点值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微软雅黑" panose="020B0503020204020204" charset="-122"/>
              </a:rPr>
              <a:t>主边界是冷板式直接液冷（CDU、冷板、Manifold、UQD、工质、二次管路、控制、安装调试与流体运维）。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浸没、两相与设施侧冷源只作相邻路线比较，不进入本报告的收入分母。</a:t>
            </a:r>
          </a:p>
        </p:txBody>
      </p:sp>
      <p:pic>
        <p:nvPicPr>
          <p:cNvPr id="10" name="Picture 9" descr="c23_tech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81" y="1783080"/>
            <a:ext cx="10702405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技术与格局篇（二）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平台工程基线：铭牌冷量不能证明兼容，五项参数必须同时校核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微软雅黑" panose="020B0503020204020204" charset="-122"/>
              </a:rPr>
              <a:t>只记录同一版本、同一回路可比较的数据；公开未披露即写「无数据」，不得用其他 OEM 参数替代。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选型须同时校核：IT 功率 · HCR/液体热负荷 · TCS/FWS 温度与工质 · Q–ΔP · 冗余与故障态。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31912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76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5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5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3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平台 / 版本</a:t>
                      </a:r>
                    </a:p>
                  </a:txBody>
                  <a:tcPr marL="0" marR="0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IT 功率</a:t>
                      </a:r>
                    </a:p>
                  </a:txBody>
                  <a:tcPr marL="0" marR="0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液体负荷 / HCR</a:t>
                      </a:r>
                    </a:p>
                  </a:txBody>
                  <a:tcPr marL="0" marR="0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TCS 温度 / 工质</a:t>
                      </a:r>
                    </a:p>
                  </a:txBody>
                  <a:tcPr marL="0" marR="0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工程裁决</a:t>
                      </a:r>
                    </a:p>
                  </a:txBody>
                  <a:tcPr marL="0" marR="0" marT="36576" marB="36576" anchor="ctr">
                    <a:solidFill>
                      <a:srgbClr val="0B22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微软雅黑" panose="020B0503020204020204" charset="-122"/>
                        </a:rPr>
                        <a:t>Lenovo GB300 NVL72
2026-08-13 update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135 kW TDP
155 kW peak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约 90%；121.5–139.5 kW
为本报告推导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供液 25–45℃；DI water
或 PG25；回液无数据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当前最完整的一柜曲线；
项目须确认曲线对应工质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微软雅黑" panose="020B0503020204020204" charset="-122"/>
                        </a:rPr>
                        <a:t>Lenovo N1380 / SC750 V4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54 kW / enclosure
三套 162 kW DC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微软雅黑" panose="020B0503020204020204" charset="-122"/>
                        </a:rPr>
                        <a:t>量热保证无数据；公开架构
称接近全水冷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供液 27/32/40/45℃；
处理洁净水；回液无数据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流量可加，支路压降不可
相加；HCR 保留条件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微软雅黑" panose="020B0503020204020204" charset="-122"/>
                        </a:rPr>
                        <a:t>Huawei Atlas 900 A3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计算柜最大 66 kW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约 70%，随配置；46.2 kW
仅为本报告粗算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液冷门供液 5–32℃；
纯水或 EG50；回液无数据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微软雅黑" panose="020B0503020204020204" charset="-122"/>
                        </a:rPr>
                        <a:t>液冷门回路与计算柜 D2C
回路不得拼接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微软雅黑" panose="020B0503020204020204" charset="-122"/>
                        </a:rPr>
                        <a:t>HPE GB200 NVL72 v4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132 kW / rack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115 kW liquid + 17 kW air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微软雅黑" panose="020B0503020204020204" charset="-122"/>
                        </a:rPr>
                        <a:t>公开摘要无数据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液体负荷可用，水力须取
site readiness 包</a:t>
                      </a:r>
                    </a:p>
                  </a:txBody>
                  <a:tcPr marL="0" marR="0" marT="36576" marB="36576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微软雅黑" panose="020B0503020204020204" charset="-122"/>
                        </a:rPr>
                        <a:t>Dell IR7000 + XE8712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特定配置最高
264 kW / rack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微软雅黑" panose="020B0503020204020204" charset="-122"/>
                        </a:rPr>
                        <a:t>HCR / 液体 kW 无数据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28/32/36/40℃；
Dell validated PG25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微软雅黑" panose="020B0503020204020204" charset="-122"/>
                        </a:rPr>
                        <a:t>504 kW 是供电/busbar 生态
能力，非本配置液体负荷</a:t>
                      </a:r>
                    </a:p>
                  </a:txBody>
                  <a:tcPr marL="0" marR="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175504"/>
            <a:ext cx="11186129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0" i="0">
                <a:solidFill>
                  <a:srgbClr val="5D687A"/>
                </a:solidFill>
                <a:latin typeface="微软雅黑" panose="020B0503020204020204" charset="-122"/>
              </a:rPr>
              <a:t>NVIDIA DGX GB200（约 120 kW/rack）、Supermicro DLC-2（方案能力最高 250 kW，非固定 IT 铭牌）与 NVIDIA Rubin（原厂路线称 100% 液冷，固定 rack kW 未披露）三项关键字段为无数据，不承诺任何容量档覆盖柜数。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0" i="0">
                <a:solidFill>
                  <a:srgbClr val="5D687A"/>
                </a:solidFill>
                <a:latin typeface="微软雅黑" panose="020B0503020204020204" charset="-122"/>
              </a:rPr>
              <a:t>来源：Lenovo GB300 Product Guide Table 27；N1380 Configuration Guide Tables 1–4；Atlas 900 A3 技术规格；Dell Rack-Scale DLC Guidelines pp.4–5, 18–19。报告表 3.1。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技术与格局篇（三）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供液温度从 25℃ 升到 45℃：流量约 3 倍，压降约 8 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微软雅黑" panose="020B0503020204020204" charset="-122"/>
              </a:rPr>
              <a:t>这是当前公开资料中最完整的一柜 Q–ΔP 曲线，也是「铭牌冷量不能证明兼容」最直观的证据。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项目必须确认曲线对应的工质（DI water 或 PG25）；不同 OEM 的流量与压降不可互相套用，支路压降不可相加。</a:t>
            </a:r>
          </a:p>
        </p:txBody>
      </p:sp>
      <p:pic>
        <p:nvPicPr>
          <p:cNvPr id="10" name="Picture 9" descr="c12_qdp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411" y="1783080"/>
            <a:ext cx="1024314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技术与格局篇（四）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CDU 卖的是可验证系统与责任闭环，不是铭牌 kW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微软雅黑" panose="020B0503020204020204" charset="-122"/>
              </a:rPr>
              <a:t>有效冷量随 ATD、供回液温度、工质、泵故障态、海拔与污堵变化，必须以矩阵而非单点表述。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控制层（应用控制算法、状态机、故障降级、BMS/DCIM 接口、远程诊断）是本业务自留的高附加值环节。</a:t>
            </a:r>
          </a:p>
        </p:txBody>
      </p:sp>
      <p:pic>
        <p:nvPicPr>
          <p:cNvPr id="10" name="Picture 9" descr="c17_cdu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425" y="1783080"/>
            <a:ext cx="9297119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技术与格局篇（六）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竞争已全栈化：三笔并购把液冷装进了水处理、电力与预制模块的全栈组合里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微软雅黑" panose="020B0503020204020204" charset="-122"/>
              </a:rPr>
              <a:t>壁垒已从设备转向全球服务、流体管理与责任承担；新进入者要面对的是组合方案，不是单机比价。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所有可比数字必须按四层严格分列，不以集团收入或集团毛利冒充液冷收入或毛利。</a:t>
            </a:r>
          </a:p>
        </p:txBody>
      </p:sp>
      <p:pic>
        <p:nvPicPr>
          <p:cNvPr id="10" name="Picture 9" descr="c24_com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51" y="1783080"/>
            <a:ext cx="971866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技术与格局篇（七）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唯一可用的纯液冷毛利实绩：冷板 10.36%，与浸没 36.49% 相差三倍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微软雅黑" panose="020B0503020204020204" charset="-122"/>
              </a:rPr>
              <a:t>这是报告中仅有的、口径较纯的历史可比毛利证据，也是「增长不保证高毛利」的直接支撑。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复算：298,639,495.45 − 267,702,360.46 = 30,937,134.99；÷ 298,639,495.45 = 10.3594%，与年报披露自洽。</a:t>
            </a:r>
          </a:p>
        </p:txBody>
      </p:sp>
      <p:pic>
        <p:nvPicPr>
          <p:cNvPr id="10" name="Picture 9" descr="c13_margin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14" y="1783080"/>
            <a:ext cx="1072134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微软雅黑" panose="020B0503020204020204" charset="-122"/>
              </a:rPr>
              <a:t>下行反证：2026 H1 冷板收入 +290.09%，同期归母净利 −7,340 万元、经营现金流 −2.42 亿元 —— 10.36% 不是行业地板。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技术与格局篇（八）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不存在公开可验证的统一 CDU 认证 —— 准入是逐项目的九步 qualification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微软雅黑" panose="020B0503020204020204" charset="-122"/>
              </a:rPr>
              <a:t>NPN 是伙伴计划，NVIDIA-Certified Systems 面向整机；华为有公司级供应商体系，但未公开 Atlas CDU 完整名录。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营销材料只可写具体项目、具体平台、具体版本的 qualification 状态，不得写「已获大厂认证」。</a:t>
            </a:r>
          </a:p>
        </p:txBody>
      </p:sp>
      <p:pic>
        <p:nvPicPr>
          <p:cNvPr id="10" name="Picture 9" descr="c21_qualification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04" y="1783080"/>
            <a:ext cx="11149960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商业篇（一）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把资本压在微笑曲线两端：中段的器件、基础软件与制造交给受控供应商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微软雅黑" panose="020B0503020204020204" charset="-122"/>
              </a:rPr>
              <a:t>自留七项价值控制点：需求权、架构权、版本权、变更权、放行权、数据权、客户权。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外协不转移最终责任：ISO 9001 外部过程控制原则与产品质量法都要求本公司保留最终放行、品牌与客户责任。</a:t>
            </a:r>
          </a:p>
        </p:txBody>
      </p:sp>
      <p:pic>
        <p:nvPicPr>
          <p:cNvPr id="10" name="Picture 9" descr="c16_smil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134" y="1783080"/>
            <a:ext cx="9463701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商业篇（二）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商业三步走：2027 启动，800 / 1,200 / 1,500 万元是阶段上限而非承诺额度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微软雅黑" panose="020B0503020204020204" charset="-122"/>
              </a:rPr>
              <a:t>阶段 2、3 是条件期权。只有订单、贡献、回款、可靠性与现金跑道同时达标才解锁，缺一即冻结。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BP v2.2 在 G0 与 G1 之间新增 G0.5 前置证据门：只加严次序，不新增额度、不放宽 G1 的任何既有判据。</a:t>
            </a:r>
          </a:p>
        </p:txBody>
      </p:sp>
      <p:pic>
        <p:nvPicPr>
          <p:cNvPr id="10" name="Picture 9" descr="c18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259" y="1783080"/>
            <a:ext cx="8775451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商业篇（三）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行业 TAM 增长推导不出公司收入：中间横着五道项目门和六个断点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微软雅黑" panose="020B0503020204020204" charset="-122"/>
              </a:rPr>
              <a:t>六个断点：分母、可交付、准入、价格、现金、模型。任何一个都足以让「TAM × 目标份额」失效。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SAM 24m 与 SOM 当前均为无数据 —— 不是 0，而是公开可核验的合格项目尚未闭环。</a:t>
            </a:r>
          </a:p>
        </p:txBody>
      </p:sp>
      <p:pic>
        <p:nvPicPr>
          <p:cNvPr id="10" name="Picture 9" descr="c19_tam_sam_s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94" y="1783080"/>
            <a:ext cx="9215179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商业篇（七）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最小验证集与保护比 49:1 —— 用 &lt; 5 万元、6–8 周决定 245 万元该不该花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微软雅黑" panose="020B0503020204020204" charset="-122"/>
              </a:rPr>
              <a:t>四项前置证据 M1 / M3 / M4 / M5 合计现金成本 &lt; 5 万元、周期 6–8 周，全部取得前不得启动样机与 NRE 采购。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245 万元占阶段一 800 万元上限的 30.6%，且是阶段一唯一一笔不可回收的大额支出。复算：(115 + 130) ÷ 5 = 49.0。</a:t>
            </a:r>
          </a:p>
        </p:txBody>
      </p:sp>
      <p:pic>
        <p:nvPicPr>
          <p:cNvPr id="10" name="Picture 9" descr="c29_min_evidence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14" y="1783080"/>
            <a:ext cx="926134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微软雅黑" panose="020B0503020204020204" charset="-122"/>
              </a:rPr>
              <a:t>G0.5 只规定支出次序，不新增额度、不放宽 G1 的任何既有判据；M3/M4/M5 本就是 G1 必需项，本门只把它们提前到花钱之前。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微软雅黑" panose="020B0503020204020204" charset="-122"/>
              </a:rPr>
              <a:t>商业篇（八）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资金门禁 G0–G3：证据不到位，钱就不出去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微软雅黑" panose="020B0503020204020204" charset="-122"/>
              </a:rPr>
              <a:t>每道门同时约束工程、商业、质量、责任、现金与组织六个维度，任一硬门未达即自动冻结。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阶段上限与外部 TAM 无关，不因市场情景上修而调整；G0.5 只规定支出次序，不新增任何额度。</a:t>
            </a:r>
          </a:p>
        </p:txBody>
      </p:sp>
      <p:pic>
        <p:nvPicPr>
          <p:cNvPr id="10" name="Picture 9" descr="c22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01" y="1783080"/>
            <a:ext cx="987516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dirty="0" err="1" smtClean="0">
                <a:solidFill>
                  <a:srgbClr val="175CD3"/>
                </a:solidFill>
                <a:latin typeface="微软雅黑" panose="020B0503020204020204" charset="-122"/>
              </a:rPr>
              <a:t>风险与结论</a:t>
            </a:r>
            <a:endParaRPr sz="950" b="1" i="0" dirty="0">
              <a:solidFill>
                <a:srgbClr val="175CD3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微软雅黑" panose="020B0503020204020204" charset="-122"/>
              </a:rPr>
              <a:t>下一步不是扩大研究，也不是做样机 —— 是用 &lt; 5 万元、6–8 周拿到四项书面证据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微软雅黑" panose="020B0503020204020204" charset="-122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微软雅黑" panose="020B0503020204020204" charset="-122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微软雅黑" panose="020B0503020204020204" charset="-122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bIns="54864" rtlCol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微软雅黑" panose="020B0503020204020204" charset="-122"/>
              </a:rPr>
              <a:t>本轮可批准：阶段 1 上限 800 万元内的架构、付费 PoC、供应链 / NPI、软件 / IP 与责任验证，以及四项前置取证。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微软雅黑" panose="020B0503020204020204" charset="-122"/>
              </a:rPr>
              <a:t>本轮不可批准：在四项证据齐备前启动样机物料、工装与 NRE 采购（含「先小批量试做」）；无订单扩产；无限责任项目。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37944"/>
            <a:ext cx="5483336" cy="3803904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37944"/>
            <a:ext cx="5483336" cy="384048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1920240"/>
            <a:ext cx="51907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</a:rPr>
              <a:t>四项前置证据（BP v2.2 §12.1 · G0.5 前置证据门）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386584"/>
            <a:ext cx="5190728" cy="3163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微软雅黑" panose="020B0503020204020204" charset="-122"/>
              </a:rPr>
              <a:t>M1　四 SKU 关键件书面报价
</a:t>
            </a:r>
            <a:r>
              <a:rPr sz="920">
                <a:solidFill>
                  <a:srgbClr val="33415A"/>
                </a:solidFill>
                <a:latin typeface="微软雅黑" panose="020B0503020204020204" charset="-122"/>
              </a:rPr>
              <a:t>每类 ≥2 家，含 MOQ / 阶梯价 / 交期 / 质保 / 付款。决定 BOM 能否落到 275–450 元/kW，即单位经济是否可能为正。4–6 周 · ≈0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微软雅黑" panose="020B0503020204020204" charset="-122"/>
              </a:rPr>
              <a:t>M3　责任条款 + 保险报价
</a:t>
            </a:r>
            <a:r>
              <a:rPr sz="920">
                <a:solidFill>
                  <a:srgbClr val="33415A"/>
                </a:solidFill>
                <a:latin typeface="微软雅黑" panose="020B0503020204020204" charset="-122"/>
              </a:rPr>
              <a:t>客户书面责任条款草案 + 产品责任险报价（冷却液释放须明列承保）。决定最坏情景是否会毁掉公司。4–8 周 · 1–3 万元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微软雅黑" panose="020B0503020204020204" charset="-122"/>
              </a:rPr>
              <a:t>M4　客户书面付款条款
</a:t>
            </a:r>
            <a:r>
              <a:rPr sz="920">
                <a:solidFill>
                  <a:srgbClr val="33415A"/>
                </a:solidFill>
                <a:latin typeface="微软雅黑" panose="020B0503020204020204" charset="-122"/>
              </a:rPr>
              <a:t>预付款比例、里程碑比例、账期起算日、质保金 / 保函形式四项齐备。决定并行项目数与现金红线。2–4 周 · ≈0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微软雅黑" panose="020B0503020204020204" charset="-122"/>
              </a:rPr>
              <a:t>M5　客户书面平台包
</a:t>
            </a:r>
            <a:r>
              <a:rPr sz="920">
                <a:solidFill>
                  <a:srgbClr val="33415A"/>
                </a:solidFill>
                <a:latin typeface="微软雅黑" panose="020B0503020204020204" charset="-122"/>
              </a:rPr>
              <a:t>TCS/FWS 温度、Q–ΔP、工质、wetted materials、HCR、冗余与故障态。决定样机设计是否有效。4–8 周 · ≈0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712" y="1837944"/>
            <a:ext cx="5483336" cy="1481328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05712" y="1837944"/>
            <a:ext cx="5483336" cy="3840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2016" y="1920240"/>
            <a:ext cx="51907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</a:rPr>
              <a:t>为什么次序比速度重要：保护比 49 :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2016" y="2368296"/>
            <a:ext cx="51907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A"/>
                </a:solidFill>
                <a:latin typeface="微软雅黑" panose="020B0503020204020204" charset="-122"/>
              </a:rPr>
              <a:t>四项证据合计 &lt; 5 万元、6–8 周，决定 245 万元（NRE 115 + 样机 130）该不该花。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B42318"/>
                </a:solidFill>
                <a:latin typeface="微软雅黑" panose="020B0503020204020204" charset="-122"/>
              </a:rPr>
              <a:t>245 万元占阶段一 800 万元上限的 30.6%，且是阶段一唯一一笔不可回收的大额支出。复算：(115 + 130) ÷ 5 = 49.0。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5712" y="3447288"/>
            <a:ext cx="5483336" cy="1170432"/>
          </a:xfrm>
          <a:prstGeom prst="rect">
            <a:avLst/>
          </a:prstGeom>
          <a:solidFill>
            <a:srgbClr val="F2FBF7"/>
          </a:solidFill>
          <a:ln w="9525">
            <a:solidFill>
              <a:srgbClr val="B6E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05712" y="3447288"/>
            <a:ext cx="5483336" cy="3840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2016" y="3529584"/>
            <a:ext cx="51907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</a:rPr>
              <a:t>阶段一目标改写为证据里程碑（BP v2.2 §14.2）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2016" y="3977639"/>
            <a:ext cx="51907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微软雅黑" panose="020B0503020204020204" charset="-122"/>
              </a:rPr>
              <a:t>在 B2 = 1、年吞吐 1.86 MW 的现金约束下，任何「阶段一收入 X 万元」目标在数学上都要求突破 B1 / B2 现金安全底线。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087A70"/>
                </a:solidFill>
                <a:latin typeface="微软雅黑" panose="020B0503020204020204" charset="-122"/>
              </a:rPr>
              <a:t>董事会月报不再报收入达成率，改报最小验证集十项的取得状态。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5712" y="4745736"/>
            <a:ext cx="5483336" cy="896112"/>
          </a:xfrm>
          <a:prstGeom prst="rect">
            <a:avLst/>
          </a:prstGeom>
          <a:solidFill>
            <a:srgbClr val="F6F8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2016" y="4837176"/>
            <a:ext cx="51907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2239"/>
                </a:solidFill>
                <a:latin typeface="微软雅黑" panose="020B0503020204020204" charset="-122"/>
              </a:rPr>
              <a:t>在 PPT 中保持「无数据」的项目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33415A"/>
                </a:solidFill>
                <a:latin typeface="微软雅黑" panose="020B0503020204020204" charset="-122"/>
              </a:rPr>
              <a:t>SAM 24m · SOM · CDU 净 ASP · 四 SKU BOM 与毛利 · 贡献毛利 / ROIC / 盈亏平衡 · CDU 有效能力矩阵。已删除且不予恢复：市场份额、部件价值占比、通用毛利率、CDU 静态 ASP、MTBF 与「零外漏」。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69864"/>
            <a:ext cx="1118612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2239"/>
                </a:solidFill>
                <a:latin typeface="微软雅黑" panose="020B0503020204020204" charset="-122"/>
              </a:rPr>
              <a:t>最终裁决：先用 &lt; 5 万元买清楚四个答案，再决定是否投入 245 万元 —— 而不是先做样机再找客户。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微软雅黑" panose="020B0503020204020204" charset="-122"/>
              </a:rPr>
              <a:t>算力冷却商业调研报告 · v3.3 Evidence-led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529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9D8FF"/>
                </a:solidFill>
                <a:latin typeface="微软雅黑" panose="020B0503020204020204" charset="-122"/>
              </a:rPr>
              <a:t>演示版 / 20260906　·　数据截止 2026-09-05　·　配套《算力冷却系统新业务BP》v2.2_20260906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29000"/>
            <a:ext cx="9966960" cy="15240"/>
          </a:xfrm>
          <a:prstGeom prst="rect">
            <a:avLst/>
          </a:prstGeom>
          <a:solidFill>
            <a:srgbClr val="2A4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639312"/>
            <a:ext cx="1005840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微软雅黑" panose="020B0503020204020204" charset="-122"/>
              </a:rPr>
              <a:t>本演示稿由《算力冷却商业调研报告 v3.3》与《算力冷却_验证与决策包 v1.0》整理而成，全部数据取自该两份文件正文，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微软雅黑" panose="020B0503020204020204" charset="-122"/>
              </a:rPr>
              <a:t>未引入其中没有的数字，未恢复已删除的伪精确点值。全部倒推结论回答「必须达到什么」，不回答「将会达到什么」。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微软雅黑" panose="020B0503020204020204" charset="-122"/>
              </a:rPr>
              <a:t>三级来源（GPU 基板 3.5–5.0 万美元、责任上限 10%–20%、年降 5%–8%、海外 200–240 美元/kW）已保留等级标注，不得写成行业事实。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微软雅黑" panose="020B0503020204020204" charset="-122"/>
              </a:rPr>
              <a:t>所有图表为本演示稿自绘（matplotlib + python-pptx），不含任何来源不明的外部图片。总体结论 valid_until 2026-11-30。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358384"/>
            <a:ext cx="4023360" cy="402336"/>
          </a:xfrm>
          <a:prstGeom prst="rect">
            <a:avLst/>
          </a:prstGeom>
          <a:solidFill>
            <a:srgbClr val="5B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5449824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C9C4"/>
                </a:solidFill>
                <a:latin typeface="微软雅黑" panose="020B0503020204020204" charset="-122"/>
              </a:rPr>
              <a:t>机密 · 仅供董事会与核心团队讨论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289" y="544982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86A6"/>
                </a:solidFill>
                <a:latin typeface="微软雅黑" panose="020B0503020204020204" charset="-122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2166</Words>
  <Application>Microsoft Office PowerPoint</Application>
  <PresentationFormat>宽屏</PresentationFormat>
  <Paragraphs>287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dc:description>generated using python-pptx</dc:description>
  <cp:lastModifiedBy>Windows User</cp:lastModifiedBy>
  <cp:revision>5</cp:revision>
  <dcterms:created xsi:type="dcterms:W3CDTF">2013-01-27T09:14:00Z</dcterms:created>
  <dcterms:modified xsi:type="dcterms:W3CDTF">2026-09-06T05:46:55Z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E09C2123F34540D38F49B602BF9345A8_13</vt:lpwstr>
  </property>
  <property fmtid="{D5CDD505-2E9C-101B-9397-08002B2CF9AE}" pid="3" name="KSOProductBuildVer">
    <vt:lpwstr>2052-12.1.0.28505</vt:lpwstr>
  </property>
</Properties>
</file>